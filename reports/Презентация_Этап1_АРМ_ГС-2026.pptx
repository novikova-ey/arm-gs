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37.svg" ContentType="image/svg+xml"/>
  <Override PartName="/ppt/media/image5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1" r:id="rId1"/>
  </p:sldMasterIdLst>
  <p:notesMasterIdLst>
    <p:notesMasterId r:id="rId27"/>
  </p:notesMasterIdLst>
  <p:sldIdLst>
    <p:sldId id="278" r:id="rId2"/>
    <p:sldId id="328" r:id="rId3"/>
    <p:sldId id="367" r:id="rId33"/>
    <p:sldId id="368" r:id="rId34"/>
    <p:sldId id="329" r:id="rId4"/>
    <p:sldId id="339" r:id="rId5"/>
    <p:sldId id="364" r:id="rId6"/>
    <p:sldId id="365" r:id="rId7"/>
    <p:sldId id="369" r:id="rId35"/>
    <p:sldId id="338" r:id="rId8"/>
    <p:sldId id="366" r:id="rId9"/>
    <p:sldId id="356" r:id="rId10"/>
    <p:sldId id="331" r:id="rId11"/>
    <p:sldId id="340" r:id="rId12"/>
    <p:sldId id="357" r:id="rId13"/>
    <p:sldId id="370" r:id="rId36"/>
    <p:sldId id="332" r:id="rId14"/>
    <p:sldId id="358" r:id="rId15"/>
    <p:sldId id="333" r:id="rId16"/>
    <p:sldId id="359" r:id="rId17"/>
    <p:sldId id="334" r:id="rId18"/>
    <p:sldId id="360" r:id="rId19"/>
    <p:sldId id="335" r:id="rId20"/>
    <p:sldId id="361" r:id="rId21"/>
    <p:sldId id="371" r:id="rId37"/>
    <p:sldId id="336" r:id="rId22"/>
    <p:sldId id="362" r:id="rId23"/>
    <p:sldId id="372" r:id="rId38"/>
    <p:sldId id="316" r:id="rId24"/>
    <p:sldId id="319" r:id="rId25"/>
    <p:sldId id="277" r:id="rId26"/>
  </p:sldIdLst>
  <p:sldSz cx="9144000" cy="5143500" type="screen16x9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1050"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342900" algn="l" rtl="0" fontAlgn="base">
      <a:spcBef>
        <a:spcPct val="0"/>
      </a:spcBef>
      <a:spcAft>
        <a:spcPct val="0"/>
      </a:spcAft>
      <a:defRPr sz="1050"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685800" algn="l" rtl="0" fontAlgn="base">
      <a:spcBef>
        <a:spcPct val="0"/>
      </a:spcBef>
      <a:spcAft>
        <a:spcPct val="0"/>
      </a:spcAft>
      <a:defRPr sz="1050"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028700" algn="l" rtl="0" fontAlgn="base">
      <a:spcBef>
        <a:spcPct val="0"/>
      </a:spcBef>
      <a:spcAft>
        <a:spcPct val="0"/>
      </a:spcAft>
      <a:defRPr sz="1050"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371600" algn="l" rtl="0" fontAlgn="base">
      <a:spcBef>
        <a:spcPct val="0"/>
      </a:spcBef>
      <a:spcAft>
        <a:spcPct val="0"/>
      </a:spcAft>
      <a:defRPr sz="1050"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1714500" algn="l" defTabSz="685800" rtl="0" eaLnBrk="1" latinLnBrk="0" hangingPunct="1">
      <a:defRPr sz="1050"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057400" algn="l" defTabSz="685800" rtl="0" eaLnBrk="1" latinLnBrk="0" hangingPunct="1">
      <a:defRPr sz="1050"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2400300" algn="l" defTabSz="685800" rtl="0" eaLnBrk="1" latinLnBrk="0" hangingPunct="1">
      <a:defRPr sz="1050"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2743200" algn="l" defTabSz="685800" rtl="0" eaLnBrk="1" latinLnBrk="0" hangingPunct="1">
      <a:defRPr sz="1050"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ина Р. Салеева" initials="АРС" lastIdx="1" clrIdx="0">
    <p:extLst>
      <p:ext uri="{19B8F6BF-5375-455C-9EA6-DF929625EA0E}">
        <p15:presenceInfo xmlns:p15="http://schemas.microsoft.com/office/powerpoint/2012/main" userId="S-1-5-21-4175950959-487461573-748563688-3216" providerId="AD"/>
      </p:ext>
    </p:extLst>
  </p:cmAuthor>
  <p:cmAuthor id="2" name="Новикова Елена Юрьевна" initials="НЕЮ" lastIdx="1" clrIdx="1">
    <p:extLst>
      <p:ext uri="{19B8F6BF-5375-455C-9EA6-DF929625EA0E}">
        <p15:presenceInfo xmlns:p15="http://schemas.microsoft.com/office/powerpoint/2012/main" userId="S-1-5-21-4175950959-487461573-748563688-33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CC00"/>
    <a:srgbClr val="B79B5D"/>
    <a:srgbClr val="00577A"/>
    <a:srgbClr val="00B3B8"/>
    <a:srgbClr val="008F76"/>
    <a:srgbClr val="0D3B8A"/>
    <a:srgbClr val="E34228"/>
    <a:srgbClr val="FFC000"/>
    <a:srgbClr val="F9E361"/>
    <a:srgbClr val="F6BE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15" autoAdjust="0"/>
    <p:restoredTop sz="93909" autoAdjust="0"/>
  </p:normalViewPr>
  <p:slideViewPr>
    <p:cSldViewPr snapToGrid="0">
      <p:cViewPr>
        <p:scale>
          <a:sx n="150" d="100"/>
          <a:sy n="150" d="100"/>
        </p:scale>
        <p:origin x="1680" y="1134"/>
      </p:cViewPr>
      <p:guideLst>
        <p:guide orient="horz" pos="2867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17E6D-F050-46BE-928D-7E56517A01B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B3B4F-A834-47CC-B468-34C2FDF3EF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81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B3B4F-A834-47CC-B468-34C2FDF3EF2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5147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B3B4F-A834-47CC-B468-34C2FDF3EF2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940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B3B4F-A834-47CC-B468-34C2FDF3EF2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353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B3B4F-A834-47CC-B468-34C2FDF3EF2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158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B3B4F-A834-47CC-B468-34C2FDF3EF2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618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B3B4F-A834-47CC-B468-34C2FDF3EF2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277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B3B4F-A834-47CC-B468-34C2FDF3EF2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798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B3B4F-A834-47CC-B468-34C2FDF3EF2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89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B3B4F-A834-47CC-B468-34C2FDF3EF2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8430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3603853-C3CA-6D7C-F7D7-9AC8B052E2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0"/>
            <a:ext cx="9143993" cy="3924297"/>
          </a:xfrm>
          <a:prstGeom prst="rect">
            <a:avLst/>
          </a:prstGeom>
        </p:spPr>
      </p:pic>
      <p:sp>
        <p:nvSpPr>
          <p:cNvPr id="542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22455" y="1251220"/>
            <a:ext cx="6940279" cy="1986655"/>
          </a:xfrm>
          <a:effectLst>
            <a:outerShdw blurRad="25400" dist="25400" dir="2700000" algn="tl" rotWithShape="0">
              <a:srgbClr val="0E4054"/>
            </a:outerShdw>
          </a:effectLst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noProof="0" dirty="0"/>
              <a:t>Образец заголовка</a:t>
            </a: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34518" y="4017023"/>
            <a:ext cx="8072203" cy="832295"/>
          </a:xfrm>
          <a:noFill/>
        </p:spPr>
        <p:txBody>
          <a:bodyPr anchor="ctr"/>
          <a:lstStyle>
            <a:lvl1pPr marL="0" indent="0" algn="r">
              <a:buFont typeface="Arial" charset="0"/>
              <a:buNone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4" name="Прямоугольник 19">
            <a:extLst>
              <a:ext uri="{FF2B5EF4-FFF2-40B4-BE49-F238E27FC236}">
                <a16:creationId xmlns:a16="http://schemas.microsoft.com/office/drawing/2014/main" id="{FAE0D09B-A1D7-D584-77CD-9DBBC9C9094C}"/>
              </a:ext>
            </a:extLst>
          </p:cNvPr>
          <p:cNvSpPr/>
          <p:nvPr userDrawn="1"/>
        </p:nvSpPr>
        <p:spPr bwMode="auto">
          <a:xfrm>
            <a:off x="655059" y="209863"/>
            <a:ext cx="8241291" cy="4762672"/>
          </a:xfrm>
          <a:custGeom>
            <a:avLst/>
            <a:gdLst>
              <a:gd name="connsiteX0" fmla="*/ 0 w 8416976"/>
              <a:gd name="connsiteY0" fmla="*/ 0 h 4527420"/>
              <a:gd name="connsiteX1" fmla="*/ 8416976 w 8416976"/>
              <a:gd name="connsiteY1" fmla="*/ 0 h 4527420"/>
              <a:gd name="connsiteX2" fmla="*/ 8416976 w 8416976"/>
              <a:gd name="connsiteY2" fmla="*/ 4527420 h 4527420"/>
              <a:gd name="connsiteX3" fmla="*/ 0 w 8416976"/>
              <a:gd name="connsiteY3" fmla="*/ 4527420 h 4527420"/>
              <a:gd name="connsiteX4" fmla="*/ 0 w 8416976"/>
              <a:gd name="connsiteY4" fmla="*/ 0 h 4527420"/>
              <a:gd name="connsiteX0" fmla="*/ 0 w 8416976"/>
              <a:gd name="connsiteY0" fmla="*/ 0 h 4527420"/>
              <a:gd name="connsiteX1" fmla="*/ 8416976 w 8416976"/>
              <a:gd name="connsiteY1" fmla="*/ 0 h 4527420"/>
              <a:gd name="connsiteX2" fmla="*/ 8416976 w 8416976"/>
              <a:gd name="connsiteY2" fmla="*/ 4527420 h 4527420"/>
              <a:gd name="connsiteX3" fmla="*/ 0 w 8416976"/>
              <a:gd name="connsiteY3" fmla="*/ 4527420 h 4527420"/>
              <a:gd name="connsiteX4" fmla="*/ 79 w 8416976"/>
              <a:gd name="connsiteY4" fmla="*/ 172112 h 4527420"/>
              <a:gd name="connsiteX5" fmla="*/ 0 w 8416976"/>
              <a:gd name="connsiteY5" fmla="*/ 0 h 4527420"/>
              <a:gd name="connsiteX0" fmla="*/ 623456 w 9040432"/>
              <a:gd name="connsiteY0" fmla="*/ 0 h 4527420"/>
              <a:gd name="connsiteX1" fmla="*/ 9040432 w 9040432"/>
              <a:gd name="connsiteY1" fmla="*/ 0 h 4527420"/>
              <a:gd name="connsiteX2" fmla="*/ 9040432 w 9040432"/>
              <a:gd name="connsiteY2" fmla="*/ 4527420 h 4527420"/>
              <a:gd name="connsiteX3" fmla="*/ 623456 w 9040432"/>
              <a:gd name="connsiteY3" fmla="*/ 4527420 h 4527420"/>
              <a:gd name="connsiteX4" fmla="*/ 623535 w 9040432"/>
              <a:gd name="connsiteY4" fmla="*/ 1324637 h 4527420"/>
              <a:gd name="connsiteX5" fmla="*/ 623535 w 9040432"/>
              <a:gd name="connsiteY5" fmla="*/ 172112 h 4527420"/>
              <a:gd name="connsiteX6" fmla="*/ 623456 w 9040432"/>
              <a:gd name="connsiteY6" fmla="*/ 0 h 4527420"/>
              <a:gd name="connsiteX0" fmla="*/ 0 w 8416976"/>
              <a:gd name="connsiteY0" fmla="*/ 0 h 4527420"/>
              <a:gd name="connsiteX1" fmla="*/ 8416976 w 8416976"/>
              <a:gd name="connsiteY1" fmla="*/ 0 h 4527420"/>
              <a:gd name="connsiteX2" fmla="*/ 8416976 w 8416976"/>
              <a:gd name="connsiteY2" fmla="*/ 4527420 h 4527420"/>
              <a:gd name="connsiteX3" fmla="*/ 0 w 8416976"/>
              <a:gd name="connsiteY3" fmla="*/ 4527420 h 4527420"/>
              <a:gd name="connsiteX4" fmla="*/ 79 w 8416976"/>
              <a:gd name="connsiteY4" fmla="*/ 1324637 h 4527420"/>
              <a:gd name="connsiteX5" fmla="*/ 79 w 8416976"/>
              <a:gd name="connsiteY5" fmla="*/ 172112 h 4527420"/>
              <a:gd name="connsiteX6" fmla="*/ 0 w 8416976"/>
              <a:gd name="connsiteY6" fmla="*/ 0 h 4527420"/>
              <a:gd name="connsiteX0" fmla="*/ 0 w 8416976"/>
              <a:gd name="connsiteY0" fmla="*/ 0 h 4527420"/>
              <a:gd name="connsiteX1" fmla="*/ 8416976 w 8416976"/>
              <a:gd name="connsiteY1" fmla="*/ 0 h 4527420"/>
              <a:gd name="connsiteX2" fmla="*/ 8416976 w 8416976"/>
              <a:gd name="connsiteY2" fmla="*/ 4527420 h 4527420"/>
              <a:gd name="connsiteX3" fmla="*/ 0 w 8416976"/>
              <a:gd name="connsiteY3" fmla="*/ 4527420 h 4527420"/>
              <a:gd name="connsiteX4" fmla="*/ 79 w 8416976"/>
              <a:gd name="connsiteY4" fmla="*/ 1324637 h 4527420"/>
              <a:gd name="connsiteX5" fmla="*/ 79 w 8416976"/>
              <a:gd name="connsiteY5" fmla="*/ 172112 h 4527420"/>
              <a:gd name="connsiteX6" fmla="*/ 0 w 8416976"/>
              <a:gd name="connsiteY6" fmla="*/ 0 h 4527420"/>
              <a:gd name="connsiteX0" fmla="*/ 0 w 8416976"/>
              <a:gd name="connsiteY0" fmla="*/ 0 h 4527420"/>
              <a:gd name="connsiteX1" fmla="*/ 8416976 w 8416976"/>
              <a:gd name="connsiteY1" fmla="*/ 0 h 4527420"/>
              <a:gd name="connsiteX2" fmla="*/ 8416976 w 8416976"/>
              <a:gd name="connsiteY2" fmla="*/ 4527420 h 4527420"/>
              <a:gd name="connsiteX3" fmla="*/ 0 w 8416976"/>
              <a:gd name="connsiteY3" fmla="*/ 4527420 h 4527420"/>
              <a:gd name="connsiteX4" fmla="*/ 79 w 8416976"/>
              <a:gd name="connsiteY4" fmla="*/ 1324637 h 4527420"/>
              <a:gd name="connsiteX5" fmla="*/ 79 w 8416976"/>
              <a:gd name="connsiteY5" fmla="*/ 172112 h 4527420"/>
              <a:gd name="connsiteX6" fmla="*/ 0 w 8416976"/>
              <a:gd name="connsiteY6" fmla="*/ 0 h 4527420"/>
              <a:gd name="connsiteX0" fmla="*/ 0 w 8416976"/>
              <a:gd name="connsiteY0" fmla="*/ 0 h 4527420"/>
              <a:gd name="connsiteX1" fmla="*/ 8416976 w 8416976"/>
              <a:gd name="connsiteY1" fmla="*/ 0 h 4527420"/>
              <a:gd name="connsiteX2" fmla="*/ 8416976 w 8416976"/>
              <a:gd name="connsiteY2" fmla="*/ 4527420 h 4527420"/>
              <a:gd name="connsiteX3" fmla="*/ 0 w 8416976"/>
              <a:gd name="connsiteY3" fmla="*/ 4527420 h 4527420"/>
              <a:gd name="connsiteX4" fmla="*/ 79 w 8416976"/>
              <a:gd name="connsiteY4" fmla="*/ 1324637 h 4527420"/>
              <a:gd name="connsiteX5" fmla="*/ 79 w 8416976"/>
              <a:gd name="connsiteY5" fmla="*/ 667412 h 4527420"/>
              <a:gd name="connsiteX6" fmla="*/ 79 w 8416976"/>
              <a:gd name="connsiteY6" fmla="*/ 172112 h 4527420"/>
              <a:gd name="connsiteX7" fmla="*/ 0 w 8416976"/>
              <a:gd name="connsiteY7" fmla="*/ 0 h 4527420"/>
              <a:gd name="connsiteX0" fmla="*/ 79 w 8416976"/>
              <a:gd name="connsiteY0" fmla="*/ 667412 h 4527420"/>
              <a:gd name="connsiteX1" fmla="*/ 79 w 8416976"/>
              <a:gd name="connsiteY1" fmla="*/ 172112 h 4527420"/>
              <a:gd name="connsiteX2" fmla="*/ 0 w 8416976"/>
              <a:gd name="connsiteY2" fmla="*/ 0 h 4527420"/>
              <a:gd name="connsiteX3" fmla="*/ 8416976 w 8416976"/>
              <a:gd name="connsiteY3" fmla="*/ 0 h 4527420"/>
              <a:gd name="connsiteX4" fmla="*/ 8416976 w 8416976"/>
              <a:gd name="connsiteY4" fmla="*/ 4527420 h 4527420"/>
              <a:gd name="connsiteX5" fmla="*/ 0 w 8416976"/>
              <a:gd name="connsiteY5" fmla="*/ 4527420 h 4527420"/>
              <a:gd name="connsiteX6" fmla="*/ 79 w 8416976"/>
              <a:gd name="connsiteY6" fmla="*/ 1324637 h 4527420"/>
              <a:gd name="connsiteX7" fmla="*/ 91519 w 8416976"/>
              <a:gd name="connsiteY7" fmla="*/ 758852 h 4527420"/>
              <a:gd name="connsiteX0" fmla="*/ 79 w 8416976"/>
              <a:gd name="connsiteY0" fmla="*/ 667412 h 4527420"/>
              <a:gd name="connsiteX1" fmla="*/ 79 w 8416976"/>
              <a:gd name="connsiteY1" fmla="*/ 172112 h 4527420"/>
              <a:gd name="connsiteX2" fmla="*/ 0 w 8416976"/>
              <a:gd name="connsiteY2" fmla="*/ 0 h 4527420"/>
              <a:gd name="connsiteX3" fmla="*/ 8416976 w 8416976"/>
              <a:gd name="connsiteY3" fmla="*/ 0 h 4527420"/>
              <a:gd name="connsiteX4" fmla="*/ 8416976 w 8416976"/>
              <a:gd name="connsiteY4" fmla="*/ 4527420 h 4527420"/>
              <a:gd name="connsiteX5" fmla="*/ 0 w 8416976"/>
              <a:gd name="connsiteY5" fmla="*/ 4527420 h 4527420"/>
              <a:gd name="connsiteX6" fmla="*/ 79 w 8416976"/>
              <a:gd name="connsiteY6" fmla="*/ 1324637 h 4527420"/>
              <a:gd name="connsiteX0" fmla="*/ 79 w 8416976"/>
              <a:gd name="connsiteY0" fmla="*/ 172112 h 4527420"/>
              <a:gd name="connsiteX1" fmla="*/ 0 w 8416976"/>
              <a:gd name="connsiteY1" fmla="*/ 0 h 4527420"/>
              <a:gd name="connsiteX2" fmla="*/ 8416976 w 8416976"/>
              <a:gd name="connsiteY2" fmla="*/ 0 h 4527420"/>
              <a:gd name="connsiteX3" fmla="*/ 8416976 w 8416976"/>
              <a:gd name="connsiteY3" fmla="*/ 4527420 h 4527420"/>
              <a:gd name="connsiteX4" fmla="*/ 0 w 8416976"/>
              <a:gd name="connsiteY4" fmla="*/ 4527420 h 4527420"/>
              <a:gd name="connsiteX5" fmla="*/ 79 w 8416976"/>
              <a:gd name="connsiteY5" fmla="*/ 1324637 h 4527420"/>
              <a:gd name="connsiteX0" fmla="*/ 7495 w 8424392"/>
              <a:gd name="connsiteY0" fmla="*/ 172112 h 4527420"/>
              <a:gd name="connsiteX1" fmla="*/ 7416 w 8424392"/>
              <a:gd name="connsiteY1" fmla="*/ 0 h 4527420"/>
              <a:gd name="connsiteX2" fmla="*/ 8424392 w 8424392"/>
              <a:gd name="connsiteY2" fmla="*/ 0 h 4527420"/>
              <a:gd name="connsiteX3" fmla="*/ 8424392 w 8424392"/>
              <a:gd name="connsiteY3" fmla="*/ 4527420 h 4527420"/>
              <a:gd name="connsiteX4" fmla="*/ 7416 w 8424392"/>
              <a:gd name="connsiteY4" fmla="*/ 4527420 h 4527420"/>
              <a:gd name="connsiteX5" fmla="*/ 0 w 8424392"/>
              <a:gd name="connsiteY5" fmla="*/ 2666257 h 4527420"/>
              <a:gd name="connsiteX0" fmla="*/ 2733 w 8419630"/>
              <a:gd name="connsiteY0" fmla="*/ 172112 h 4527420"/>
              <a:gd name="connsiteX1" fmla="*/ 2654 w 8419630"/>
              <a:gd name="connsiteY1" fmla="*/ 0 h 4527420"/>
              <a:gd name="connsiteX2" fmla="*/ 8419630 w 8419630"/>
              <a:gd name="connsiteY2" fmla="*/ 0 h 4527420"/>
              <a:gd name="connsiteX3" fmla="*/ 8419630 w 8419630"/>
              <a:gd name="connsiteY3" fmla="*/ 4527420 h 4527420"/>
              <a:gd name="connsiteX4" fmla="*/ 2654 w 8419630"/>
              <a:gd name="connsiteY4" fmla="*/ 4527420 h 4527420"/>
              <a:gd name="connsiteX5" fmla="*/ 1 w 8419630"/>
              <a:gd name="connsiteY5" fmla="*/ 2666257 h 4527420"/>
              <a:gd name="connsiteX0" fmla="*/ 2732 w 8419629"/>
              <a:gd name="connsiteY0" fmla="*/ 172112 h 4527420"/>
              <a:gd name="connsiteX1" fmla="*/ 2653 w 8419629"/>
              <a:gd name="connsiteY1" fmla="*/ 0 h 4527420"/>
              <a:gd name="connsiteX2" fmla="*/ 8419629 w 8419629"/>
              <a:gd name="connsiteY2" fmla="*/ 0 h 4527420"/>
              <a:gd name="connsiteX3" fmla="*/ 8419629 w 8419629"/>
              <a:gd name="connsiteY3" fmla="*/ 4527420 h 4527420"/>
              <a:gd name="connsiteX4" fmla="*/ 2653 w 8419629"/>
              <a:gd name="connsiteY4" fmla="*/ 4527420 h 4527420"/>
              <a:gd name="connsiteX5" fmla="*/ 0 w 8419629"/>
              <a:gd name="connsiteY5" fmla="*/ 2666257 h 4527420"/>
              <a:gd name="connsiteX0" fmla="*/ 2732 w 8419629"/>
              <a:gd name="connsiteY0" fmla="*/ 172112 h 4527420"/>
              <a:gd name="connsiteX1" fmla="*/ 2653 w 8419629"/>
              <a:gd name="connsiteY1" fmla="*/ 0 h 4527420"/>
              <a:gd name="connsiteX2" fmla="*/ 8419629 w 8419629"/>
              <a:gd name="connsiteY2" fmla="*/ 0 h 4527420"/>
              <a:gd name="connsiteX3" fmla="*/ 8419629 w 8419629"/>
              <a:gd name="connsiteY3" fmla="*/ 4527420 h 4527420"/>
              <a:gd name="connsiteX4" fmla="*/ 2653 w 8419629"/>
              <a:gd name="connsiteY4" fmla="*/ 4527420 h 4527420"/>
              <a:gd name="connsiteX5" fmla="*/ 0 w 8419629"/>
              <a:gd name="connsiteY5" fmla="*/ 2888190 h 452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19629" h="4527420" extrusionOk="0">
                <a:moveTo>
                  <a:pt x="2732" y="172112"/>
                </a:moveTo>
                <a:cubicBezTo>
                  <a:pt x="2706" y="114741"/>
                  <a:pt x="2679" y="57371"/>
                  <a:pt x="2653" y="0"/>
                </a:cubicBezTo>
                <a:lnTo>
                  <a:pt x="8419629" y="0"/>
                </a:lnTo>
                <a:lnTo>
                  <a:pt x="8419629" y="4527420"/>
                </a:lnTo>
                <a:lnTo>
                  <a:pt x="2653" y="4527420"/>
                </a:lnTo>
                <a:cubicBezTo>
                  <a:pt x="1769" y="3907032"/>
                  <a:pt x="884" y="3508578"/>
                  <a:pt x="0" y="2888190"/>
                </a:cubicBezTo>
              </a:path>
            </a:pathLst>
          </a:custGeom>
          <a:noFill/>
          <a:ln w="22225" cap="flat" cmpd="sng" algn="ctr">
            <a:gradFill flip="none" rotWithShape="1">
              <a:gsLst>
                <a:gs pos="0">
                  <a:srgbClr val="A88C5E"/>
                </a:gs>
                <a:gs pos="100000">
                  <a:srgbClr val="DBC273"/>
                </a:gs>
              </a:gsLst>
              <a:lin ang="189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359824" indent="-359824" algn="just" defTabSz="1219170">
              <a:buClr>
                <a:srgbClr val="2A4E9E"/>
              </a:buClr>
              <a:buSzPct val="100000"/>
              <a:defRPr/>
            </a:pPr>
            <a:endParaRPr lang="ru-RU" sz="1600" b="1" kern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46B668-C6E5-117C-F1FB-FC23517FC9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512" y="399472"/>
            <a:ext cx="41148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34145"/>
      </p:ext>
    </p:extLst>
  </p:cSld>
  <p:clrMapOvr>
    <a:masterClrMapping/>
  </p:clrMapOvr>
  <p:transition>
    <p:split orient="vert"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 b="0" cap="all" baseline="0">
                <a:solidFill>
                  <a:srgbClr val="88704A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524" y="963052"/>
            <a:ext cx="8694604" cy="3985084"/>
          </a:xfrm>
        </p:spPr>
        <p:txBody>
          <a:bodyPr/>
          <a:lstStyle>
            <a:lvl1pPr>
              <a:spcBef>
                <a:spcPts val="600"/>
              </a:spcBef>
              <a:spcAft>
                <a:spcPts val="300"/>
              </a:spcAft>
              <a:buClr>
                <a:srgbClr val="A88C5E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200"/>
              </a:spcAft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20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200"/>
              </a:spcBef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295267-F98D-45D9-ABB7-DCC0B0F700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71477"/>
      </p:ext>
    </p:extLst>
  </p:cSld>
  <p:clrMapOvr>
    <a:masterClrMapping/>
  </p:clrMapOvr>
  <p:transition>
    <p:split orient="vert"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8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2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295267-F98D-45D9-ABB7-DCC0B0F700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496192"/>
      </p:ext>
    </p:extLst>
  </p:cSld>
  <p:clrMapOvr>
    <a:masterClrMapping/>
  </p:clrMapOvr>
  <p:transition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75100" y="1018162"/>
            <a:ext cx="4251895" cy="4011038"/>
          </a:xfrm>
        </p:spPr>
        <p:txBody>
          <a:bodyPr/>
          <a:lstStyle>
            <a:lvl1pPr>
              <a:buClr>
                <a:srgbClr val="A88C5E"/>
              </a:buClr>
              <a:defRPr sz="1600">
                <a:solidFill>
                  <a:srgbClr val="88704A"/>
                </a:solidFill>
              </a:defRPr>
            </a:lvl1pPr>
            <a:lvl2pPr>
              <a:defRPr sz="1400"/>
            </a:lvl2pPr>
            <a:lvl3pPr>
              <a:buClr>
                <a:schemeClr val="tx1"/>
              </a:buClr>
              <a:defRPr sz="1200"/>
            </a:lvl3pPr>
            <a:lvl4pPr>
              <a:buClr>
                <a:schemeClr val="tx1"/>
              </a:buClr>
              <a:defRPr sz="1100"/>
            </a:lvl4pPr>
            <a:lvl5pPr>
              <a:buClr>
                <a:schemeClr val="tx1"/>
              </a:buCl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670" y="1018162"/>
            <a:ext cx="4253457" cy="4011038"/>
          </a:xfrm>
        </p:spPr>
        <p:txBody>
          <a:bodyPr/>
          <a:lstStyle>
            <a:lvl1pPr>
              <a:buClr>
                <a:srgbClr val="A88C5E"/>
              </a:buClr>
              <a:defRPr sz="1600">
                <a:solidFill>
                  <a:srgbClr val="88704A"/>
                </a:solidFill>
              </a:defRPr>
            </a:lvl1pPr>
            <a:lvl2pPr>
              <a:defRPr sz="1400"/>
            </a:lvl2pPr>
            <a:lvl3pPr>
              <a:buClr>
                <a:schemeClr val="tx1"/>
              </a:buClr>
              <a:defRPr sz="1200"/>
            </a:lvl3pPr>
            <a:lvl4pPr>
              <a:buClr>
                <a:schemeClr val="tx1"/>
              </a:buClr>
              <a:defRPr sz="1100"/>
            </a:lvl4pPr>
            <a:lvl5pPr>
              <a:buClr>
                <a:schemeClr val="tx1"/>
              </a:buCl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295267-F98D-45D9-ABB7-DCC0B0F700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918562"/>
      </p:ext>
    </p:extLst>
  </p:cSld>
  <p:clrMapOvr>
    <a:masterClrMapping/>
  </p:clrMapOvr>
  <p:transition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5864" y="911422"/>
            <a:ext cx="4040188" cy="479822"/>
          </a:xfrm>
        </p:spPr>
        <p:txBody>
          <a:bodyPr anchor="ctr"/>
          <a:lstStyle>
            <a:lvl1pPr marL="0" indent="0">
              <a:buNone/>
              <a:defRPr sz="1600" b="1" cap="none" baseline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85864" y="1403462"/>
            <a:ext cx="4040188" cy="3570616"/>
          </a:xfrm>
        </p:spPr>
        <p:txBody>
          <a:bodyPr/>
          <a:lstStyle>
            <a:lvl1pPr>
              <a:spcBef>
                <a:spcPts val="600"/>
              </a:spcBef>
              <a:spcAft>
                <a:spcPts val="300"/>
              </a:spcAft>
              <a:buClr>
                <a:srgbClr val="A88C5E"/>
              </a:buClr>
              <a:defRPr sz="1600">
                <a:solidFill>
                  <a:schemeClr val="tx1"/>
                </a:solidFill>
              </a:defRPr>
            </a:lvl1pPr>
            <a:lvl2pPr marL="630238" indent="-180975">
              <a:spcBef>
                <a:spcPts val="30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0"/>
              </a:spcAft>
              <a:buClr>
                <a:schemeClr val="tx1"/>
              </a:buClr>
              <a:defRPr sz="1100">
                <a:solidFill>
                  <a:schemeClr val="tx1"/>
                </a:solidFill>
              </a:defRPr>
            </a:lvl4pPr>
            <a:lvl5pPr>
              <a:spcBef>
                <a:spcPts val="200"/>
              </a:spcBef>
              <a:spcAft>
                <a:spcPts val="0"/>
              </a:spcAft>
              <a:buClr>
                <a:schemeClr val="tx1"/>
              </a:buClr>
              <a:defRPr sz="11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87699" y="911422"/>
            <a:ext cx="4041775" cy="479822"/>
          </a:xfrm>
        </p:spPr>
        <p:txBody>
          <a:bodyPr anchor="ctr"/>
          <a:lstStyle>
            <a:lvl1pPr marL="0" indent="0">
              <a:buNone/>
              <a:defRPr sz="1600" b="1" cap="none" baseline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87699" y="1403462"/>
            <a:ext cx="4041775" cy="3570616"/>
          </a:xfrm>
        </p:spPr>
        <p:txBody>
          <a:bodyPr/>
          <a:lstStyle>
            <a:lvl1pPr>
              <a:spcBef>
                <a:spcPts val="600"/>
              </a:spcBef>
              <a:spcAft>
                <a:spcPts val="300"/>
              </a:spcAft>
              <a:buClr>
                <a:srgbClr val="A88C5E"/>
              </a:buClr>
              <a:defRPr sz="1600">
                <a:solidFill>
                  <a:schemeClr val="tx1"/>
                </a:solidFill>
              </a:defRPr>
            </a:lvl1pPr>
            <a:lvl2pPr marL="630238" indent="-180975">
              <a:spcBef>
                <a:spcPts val="30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>
              <a:spcBef>
                <a:spcPts val="200"/>
              </a:spcBef>
              <a:spcAft>
                <a:spcPts val="0"/>
              </a:spcAft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spcBef>
                <a:spcPts val="200"/>
              </a:spcBef>
              <a:spcAft>
                <a:spcPts val="0"/>
              </a:spcAft>
              <a:buClr>
                <a:schemeClr val="tx1"/>
              </a:buClr>
              <a:defRPr sz="1100">
                <a:solidFill>
                  <a:schemeClr val="tx1"/>
                </a:solidFill>
              </a:defRPr>
            </a:lvl4pPr>
            <a:lvl5pPr>
              <a:spcBef>
                <a:spcPts val="200"/>
              </a:spcBef>
              <a:spcAft>
                <a:spcPts val="0"/>
              </a:spcAft>
              <a:buClr>
                <a:schemeClr val="tx1"/>
              </a:buClr>
              <a:defRPr sz="11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295267-F98D-45D9-ABB7-DCC0B0F70081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891ECDC-66AA-A293-C27E-195B7BDB7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579" y="68892"/>
            <a:ext cx="7688490" cy="76377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44272894"/>
      </p:ext>
    </p:extLst>
  </p:cSld>
  <p:clrMapOvr>
    <a:masterClrMapping/>
  </p:clrMapOvr>
  <p:transition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>
                <a:solidFill>
                  <a:srgbClr val="88704A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295267-F98D-45D9-ABB7-DCC0B0F700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593641"/>
      </p:ext>
    </p:extLst>
  </p:cSld>
  <p:clrMapOvr>
    <a:masterClrMapping/>
  </p:clrMapOvr>
  <p:transition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01A195-8886-5CD4-9BAC-BFA97563DA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190750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40F2-3D2F-7F6D-46D5-E660923B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293" y="832670"/>
            <a:ext cx="6542834" cy="3243739"/>
          </a:xfrm>
        </p:spPr>
        <p:txBody>
          <a:bodyPr/>
          <a:lstStyle>
            <a:lvl1pPr>
              <a:defRPr sz="2800" b="0" cap="all" baseline="0">
                <a:solidFill>
                  <a:srgbClr val="88704A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A11C10-9620-AC4C-45D6-C303EC00E2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40793E19-1AFC-C9BE-73F4-944AAB2EDEC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-374055" y="2571750"/>
            <a:ext cx="5143500" cy="0"/>
          </a:xfrm>
          <a:prstGeom prst="line">
            <a:avLst/>
          </a:prstGeom>
          <a:noFill/>
          <a:ln w="38100">
            <a:solidFill>
              <a:srgbClr val="A88C5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1438654906"/>
      </p:ext>
    </p:extLst>
  </p:cSld>
  <p:clrMapOvr>
    <a:masterClrMapping/>
  </p:clrMapOvr>
  <p:transition>
    <p:split orient="vert"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40F2-3D2F-7F6D-46D5-E660923B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293" y="1256428"/>
            <a:ext cx="6542834" cy="2819981"/>
          </a:xfrm>
        </p:spPr>
        <p:txBody>
          <a:bodyPr/>
          <a:lstStyle>
            <a:lvl1pPr>
              <a:defRPr sz="2800" b="0" cap="all" baseline="0">
                <a:solidFill>
                  <a:srgbClr val="88704A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A11C10-9620-AC4C-45D6-C303EC00E2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0A5AC71A-1517-3C6C-7485-87F805C5F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-1"/>
            <a:ext cx="2197685" cy="5143501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BA208B6-D967-ACA0-3CC7-7C2E66C4939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32071" y="1"/>
            <a:ext cx="370057" cy="832669"/>
          </a:xfrm>
          <a:solidFill>
            <a:srgbClr val="EAE4D6"/>
          </a:solidFill>
          <a:ln/>
        </p:spPr>
        <p:txBody>
          <a:bodyPr/>
          <a:lstStyle>
            <a:lvl1pPr>
              <a:defRPr/>
            </a:lvl1pPr>
          </a:lstStyle>
          <a:p>
            <a:fld id="{97295267-F98D-45D9-ABB7-DCC0B0F70081}" type="slidenum">
              <a:rPr lang="ru-RU" smtClean="0"/>
              <a:t>‹#›</a:t>
            </a:fld>
            <a:endParaRPr lang="ru-RU"/>
          </a:p>
        </p:txBody>
      </p:sp>
      <p:sp>
        <p:nvSpPr>
          <p:cNvPr id="4" name="Line 13">
            <a:extLst>
              <a:ext uri="{FF2B5EF4-FFF2-40B4-BE49-F238E27FC236}">
                <a16:creationId xmlns:a16="http://schemas.microsoft.com/office/drawing/2014/main" id="{F9F94D92-D131-44FA-C3F3-207E3759B6FE}"/>
              </a:ext>
            </a:extLst>
          </p:cNvPr>
          <p:cNvSpPr>
            <a:spLocks noChangeShapeType="1"/>
          </p:cNvSpPr>
          <p:nvPr userDrawn="1"/>
        </p:nvSpPr>
        <p:spPr bwMode="auto">
          <a:xfrm rot="16200000">
            <a:off x="-374055" y="2571750"/>
            <a:ext cx="5143500" cy="0"/>
          </a:xfrm>
          <a:prstGeom prst="line">
            <a:avLst/>
          </a:prstGeom>
          <a:noFill/>
          <a:ln w="38100">
            <a:solidFill>
              <a:srgbClr val="BC9C6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2032853310"/>
      </p:ext>
    </p:extLst>
  </p:cSld>
  <p:clrMapOvr>
    <a:masterClrMapping/>
  </p:clrMapOvr>
  <p:transition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A11C10-9620-AC4C-45D6-C303EC00E2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0A5AC71A-1517-3C6C-7485-87F805C5F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-1"/>
            <a:ext cx="2197685" cy="5143501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BA208B6-D967-ACA0-3CC7-7C2E66C4939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32071" y="1"/>
            <a:ext cx="370057" cy="832669"/>
          </a:xfrm>
          <a:solidFill>
            <a:srgbClr val="EAE4D6"/>
          </a:solidFill>
          <a:ln/>
        </p:spPr>
        <p:txBody>
          <a:bodyPr/>
          <a:lstStyle>
            <a:lvl1pPr>
              <a:defRPr/>
            </a:lvl1pPr>
          </a:lstStyle>
          <a:p>
            <a:fld id="{97295267-F98D-45D9-ABB7-DCC0B0F70081}" type="slidenum">
              <a:rPr lang="ru-RU" smtClean="0"/>
              <a:t>‹#›</a:t>
            </a:fld>
            <a:endParaRPr lang="ru-RU"/>
          </a:p>
        </p:txBody>
      </p:sp>
      <p:sp>
        <p:nvSpPr>
          <p:cNvPr id="4" name="Line 13">
            <a:extLst>
              <a:ext uri="{FF2B5EF4-FFF2-40B4-BE49-F238E27FC236}">
                <a16:creationId xmlns:a16="http://schemas.microsoft.com/office/drawing/2014/main" id="{F9F94D92-D131-44FA-C3F3-207E3759B6FE}"/>
              </a:ext>
            </a:extLst>
          </p:cNvPr>
          <p:cNvSpPr>
            <a:spLocks noChangeShapeType="1"/>
          </p:cNvSpPr>
          <p:nvPr userDrawn="1"/>
        </p:nvSpPr>
        <p:spPr bwMode="auto">
          <a:xfrm rot="16200000">
            <a:off x="-374055" y="2571750"/>
            <a:ext cx="5143500" cy="0"/>
          </a:xfrm>
          <a:prstGeom prst="line">
            <a:avLst/>
          </a:prstGeom>
          <a:noFill/>
          <a:ln w="38100">
            <a:solidFill>
              <a:srgbClr val="BC9C6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ru-RU" sz="140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409842C-390B-60FD-C160-762996E229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35938" y="1162050"/>
            <a:ext cx="6466182" cy="3539370"/>
          </a:xfrm>
        </p:spPr>
        <p:txBody>
          <a:bodyPr/>
          <a:lstStyle>
            <a:lvl1pPr marL="285750" indent="-285750">
              <a:buClr>
                <a:srgbClr val="88704A"/>
              </a:buClr>
              <a:buFont typeface="Wingdings" panose="05000000000000000000" pitchFamily="2" charset="2"/>
              <a:buChar char="§"/>
              <a:defRPr b="0" cap="none" baseline="0">
                <a:solidFill>
                  <a:schemeClr val="tx1"/>
                </a:solidFill>
              </a:defRPr>
            </a:lvl1pPr>
            <a:lvl2pPr marL="719120" indent="-269868">
              <a:buClr>
                <a:srgbClr val="88704A"/>
              </a:buClr>
              <a:buFont typeface="Wingdings" panose="05000000000000000000" pitchFamily="2" charset="2"/>
              <a:buChar char="§"/>
              <a:defRPr/>
            </a:lvl2pPr>
            <a:lvl3pPr marL="1077886" indent="-179384">
              <a:buClr>
                <a:srgbClr val="88704A"/>
              </a:buClr>
              <a:buFont typeface="Wingdings" panose="05000000000000000000" pitchFamily="2" charset="2"/>
              <a:buChar char="§"/>
              <a:defRPr/>
            </a:lvl3pPr>
            <a:lvl4pPr marL="1436652" indent="-179384">
              <a:buClr>
                <a:srgbClr val="88704A"/>
              </a:buClr>
              <a:buFont typeface="Wingdings" panose="05000000000000000000" pitchFamily="2" charset="2"/>
              <a:buChar char="§"/>
              <a:defRPr/>
            </a:lvl4pPr>
            <a:lvl5pPr marL="1795418" indent="-179384">
              <a:buClr>
                <a:srgbClr val="88704A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2ED42B3-3D83-78F7-A378-86B8960DC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56175" y="68892"/>
            <a:ext cx="5475893" cy="763777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Образец заголовка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6971CC3-A708-C76E-6572-BFF478403B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70" t="4796" r="6333" b="35008"/>
          <a:stretch/>
        </p:blipFill>
        <p:spPr>
          <a:xfrm>
            <a:off x="2273554" y="108780"/>
            <a:ext cx="706743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16725"/>
      </p:ext>
    </p:extLst>
  </p:cSld>
  <p:clrMapOvr>
    <a:masterClrMapping/>
  </p:clrMapOvr>
  <p:transition>
    <p:split orient="vert"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32071" y="1"/>
            <a:ext cx="370057" cy="832669"/>
          </a:xfrm>
          <a:solidFill>
            <a:srgbClr val="EAE4D6"/>
          </a:solidFill>
          <a:ln/>
        </p:spPr>
        <p:txBody>
          <a:bodyPr/>
          <a:lstStyle>
            <a:lvl1pPr>
              <a:defRPr/>
            </a:lvl1pPr>
          </a:lstStyle>
          <a:p>
            <a:fld id="{97295267-F98D-45D9-ABB7-DCC0B0F70081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C18798-31D9-8574-BBE3-14656A24A6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70" t="4796" r="6333" b="35008"/>
          <a:stretch/>
        </p:blipFill>
        <p:spPr>
          <a:xfrm>
            <a:off x="136833" y="108780"/>
            <a:ext cx="706743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11333"/>
      </p:ext>
    </p:extLst>
  </p:cSld>
  <p:clrMapOvr>
    <a:masterClrMapping/>
  </p:clrMapOvr>
  <p:transition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295267-F98D-45D9-ABB7-DCC0B0F700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425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plit orient="vert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9" y="963053"/>
            <a:ext cx="8796337" cy="3800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3124"/>
            <a:ext cx="2895600" cy="3571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b="0"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399" y="68892"/>
            <a:ext cx="7617669" cy="763777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6A7C572-250D-9907-8E80-1BAF30CE2951}"/>
              </a:ext>
            </a:extLst>
          </p:cNvPr>
          <p:cNvSpPr/>
          <p:nvPr/>
        </p:nvSpPr>
        <p:spPr bwMode="auto">
          <a:xfrm>
            <a:off x="8532072" y="2"/>
            <a:ext cx="370056" cy="832669"/>
          </a:xfrm>
          <a:prstGeom prst="rect">
            <a:avLst/>
          </a:prstGeom>
          <a:solidFill>
            <a:srgbClr val="EAE4D6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69861" indent="-269861" algn="just">
              <a:spcBef>
                <a:spcPts val="0"/>
              </a:spcBef>
              <a:buClr>
                <a:srgbClr val="2A4E9E"/>
              </a:buClr>
              <a:buSzPct val="100000"/>
            </a:pPr>
            <a:endParaRPr lang="ru-RU" sz="1200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2071" y="68893"/>
            <a:ext cx="370057" cy="763777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1"/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 b="1">
                <a:solidFill>
                  <a:srgbClr val="A88C5E"/>
                </a:solidFill>
                <a:latin typeface="Century Gothic" panose="020B0502020202020204" pitchFamily="34" charset="0"/>
              </a:defRPr>
            </a:lvl1pPr>
          </a:lstStyle>
          <a:p>
            <a:fld id="{97295267-F98D-45D9-ABB7-DCC0B0F70081}" type="slidenum">
              <a:rPr lang="ru-RU" smtClean="0"/>
              <a:t>‹#›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252BD0-92D2-BE80-4016-B8471B7CC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5670" t="4796" r="6333" b="35008"/>
          <a:stretch/>
        </p:blipFill>
        <p:spPr>
          <a:xfrm>
            <a:off x="136833" y="108780"/>
            <a:ext cx="706743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10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88" r:id="rId7"/>
    <p:sldLayoutId id="2147483679" r:id="rId8"/>
    <p:sldLayoutId id="2147483692" r:id="rId9"/>
    <p:sldLayoutId id="2147483680" r:id="rId10"/>
    <p:sldLayoutId id="2147483681" r:id="rId11"/>
  </p:sldLayoutIdLst>
  <p:transition>
    <p:split orient="vert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0" cap="all" baseline="0">
          <a:solidFill>
            <a:srgbClr val="88704A"/>
          </a:solidFill>
          <a:latin typeface="Century Gothic" panose="020B050202020202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003CA0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003CA0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003CA0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003CA0"/>
          </a:solidFill>
          <a:latin typeface="Arial" charset="0"/>
        </a:defRPr>
      </a:lvl5pPr>
      <a:lvl6pPr marL="457189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003CA0"/>
          </a:solidFill>
          <a:latin typeface="Arial" charset="0"/>
        </a:defRPr>
      </a:lvl6pPr>
      <a:lvl7pPr marL="914378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003CA0"/>
          </a:solidFill>
          <a:latin typeface="Arial" charset="0"/>
        </a:defRPr>
      </a:lvl7pPr>
      <a:lvl8pPr marL="1371566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003CA0"/>
          </a:solidFill>
          <a:latin typeface="Arial" charset="0"/>
        </a:defRPr>
      </a:lvl8pPr>
      <a:lvl9pPr marL="1828754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003CA0"/>
          </a:solidFill>
          <a:latin typeface="Arial" charset="0"/>
        </a:defRPr>
      </a:lvl9pPr>
    </p:titleStyle>
    <p:bodyStyle>
      <a:lvl1pPr marL="269868" indent="-269868" algn="just" rtl="0" eaLnBrk="1" fontAlgn="base" hangingPunct="1">
        <a:spcBef>
          <a:spcPct val="20000"/>
        </a:spcBef>
        <a:spcAft>
          <a:spcPct val="0"/>
        </a:spcAft>
        <a:buClr>
          <a:srgbClr val="88704A"/>
        </a:buClr>
        <a:buFont typeface="Wingdings" panose="05000000000000000000" pitchFamily="2" charset="2"/>
        <a:buChar char="Ø"/>
        <a:defRPr sz="1600" b="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719120" indent="-269868" algn="just" rtl="0" eaLnBrk="1" fontAlgn="base" hangingPunct="1">
        <a:spcBef>
          <a:spcPct val="20000"/>
        </a:spcBef>
        <a:spcAft>
          <a:spcPct val="0"/>
        </a:spcAft>
        <a:buClr>
          <a:srgbClr val="95642F"/>
        </a:buClr>
        <a:buSzPct val="85000"/>
        <a:buFont typeface="Wingdings" panose="05000000000000000000" pitchFamily="2" charset="2"/>
        <a:buChar char="§"/>
        <a:defRPr sz="1400" b="0">
          <a:solidFill>
            <a:schemeClr val="tx1"/>
          </a:solidFill>
          <a:latin typeface="Century Gothic" panose="020B0502020202020204" pitchFamily="34" charset="0"/>
        </a:defRPr>
      </a:lvl2pPr>
      <a:lvl3pPr marL="1077886" indent="-179384" algn="just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200" b="0">
          <a:solidFill>
            <a:schemeClr val="tx1"/>
          </a:solidFill>
          <a:latin typeface="Century Gothic" panose="020B0502020202020204" pitchFamily="34" charset="0"/>
        </a:defRPr>
      </a:lvl3pPr>
      <a:lvl4pPr marL="1436652" indent="-179384" algn="just" rtl="0" eaLnBrk="1" fontAlgn="base" hangingPunct="1">
        <a:spcBef>
          <a:spcPct val="20000"/>
        </a:spcBef>
        <a:spcAft>
          <a:spcPct val="0"/>
        </a:spcAft>
        <a:buClr>
          <a:srgbClr val="003CA0"/>
        </a:buClr>
        <a:buFont typeface="Wingdings" pitchFamily="2" charset="2"/>
        <a:buChar char="§"/>
        <a:defRPr sz="1000" b="0">
          <a:solidFill>
            <a:schemeClr val="tx1"/>
          </a:solidFill>
          <a:latin typeface="Century Gothic" panose="020B0502020202020204" pitchFamily="34" charset="0"/>
        </a:defRPr>
      </a:lvl4pPr>
      <a:lvl5pPr marL="1795418" indent="-179384" algn="just" rtl="0" eaLnBrk="1" fontAlgn="base" hangingPunct="1">
        <a:spcBef>
          <a:spcPct val="20000"/>
        </a:spcBef>
        <a:spcAft>
          <a:spcPct val="0"/>
        </a:spcAft>
        <a:buClr>
          <a:srgbClr val="003CA0"/>
        </a:buClr>
        <a:buFont typeface="Wingdings" pitchFamily="2" charset="2"/>
        <a:buChar char="§"/>
        <a:defRPr sz="1000" b="0">
          <a:solidFill>
            <a:schemeClr val="tx1"/>
          </a:solidFill>
          <a:latin typeface="Century Gothic" panose="020B0502020202020204" pitchFamily="34" charset="0"/>
        </a:defRPr>
      </a:lvl5pPr>
      <a:lvl6pPr marL="2252607" indent="-179384" algn="just" rtl="0" eaLnBrk="1" fontAlgn="base" hangingPunct="1">
        <a:spcBef>
          <a:spcPct val="20000"/>
        </a:spcBef>
        <a:spcAft>
          <a:spcPct val="0"/>
        </a:spcAft>
        <a:buClr>
          <a:srgbClr val="003CA0"/>
        </a:buClr>
        <a:buFont typeface="Wingdings" pitchFamily="2" charset="2"/>
        <a:buChar char="§"/>
        <a:defRPr sz="1000" b="1">
          <a:solidFill>
            <a:schemeClr val="tx1"/>
          </a:solidFill>
          <a:latin typeface="+mn-lt"/>
        </a:defRPr>
      </a:lvl6pPr>
      <a:lvl7pPr marL="2709795" indent="-179384" algn="just" rtl="0" eaLnBrk="1" fontAlgn="base" hangingPunct="1">
        <a:spcBef>
          <a:spcPct val="20000"/>
        </a:spcBef>
        <a:spcAft>
          <a:spcPct val="0"/>
        </a:spcAft>
        <a:buClr>
          <a:srgbClr val="003CA0"/>
        </a:buClr>
        <a:buFont typeface="Wingdings" pitchFamily="2" charset="2"/>
        <a:buChar char="§"/>
        <a:defRPr sz="1000" b="1">
          <a:solidFill>
            <a:schemeClr val="tx1"/>
          </a:solidFill>
          <a:latin typeface="+mn-lt"/>
        </a:defRPr>
      </a:lvl7pPr>
      <a:lvl8pPr marL="3166984" indent="-179384" algn="just" rtl="0" eaLnBrk="1" fontAlgn="base" hangingPunct="1">
        <a:spcBef>
          <a:spcPct val="20000"/>
        </a:spcBef>
        <a:spcAft>
          <a:spcPct val="0"/>
        </a:spcAft>
        <a:buClr>
          <a:srgbClr val="003CA0"/>
        </a:buClr>
        <a:buFont typeface="Wingdings" pitchFamily="2" charset="2"/>
        <a:buChar char="§"/>
        <a:defRPr sz="1000" b="1">
          <a:solidFill>
            <a:schemeClr val="tx1"/>
          </a:solidFill>
          <a:latin typeface="+mn-lt"/>
        </a:defRPr>
      </a:lvl8pPr>
      <a:lvl9pPr marL="3624173" indent="-179384" algn="just" rtl="0" eaLnBrk="1" fontAlgn="base" hangingPunct="1">
        <a:spcBef>
          <a:spcPct val="20000"/>
        </a:spcBef>
        <a:spcAft>
          <a:spcPct val="0"/>
        </a:spcAft>
        <a:buClr>
          <a:srgbClr val="003CA0"/>
        </a:buClr>
        <a:buFont typeface="Wingdings" pitchFamily="2" charset="2"/>
        <a:buChar char="§"/>
        <a:defRPr sz="1000" b="1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5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Relationship Id="rId4" Type="http://schemas.openxmlformats.org/officeDocument/2006/relationships/image" Target="../media/image54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56.svg"/><Relationship Id="rId5" Type="http://schemas.openxmlformats.org/officeDocument/2006/relationships/image" Target="../media/image57.png"/><Relationship Id="rId6" Type="http://schemas.openxmlformats.org/officeDocument/2006/relationships/image" Target="../media/image58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D7D41DE-E0C0-C00E-416D-034B998A8D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2600" dirty="0" b="1">
                <a:solidFill>
                  <a:srgbClr val="FFFFFF"/>
                </a:solidFill>
                <a:latin typeface="Century Gothic"/>
              </a:rPr>
              <a:t>Результаты Этапа 1 развития программного комплекса</a:t>
            </a:r>
            <a:br>
              <a:rPr lang="ru-RU" sz="2400" dirty="0"/>
            </a:br>
            <a:r>
              <a:rPr lang="ru-RU" sz="2400" dirty="0"/>
              <a:t/>
            </a:r>
          </a:p>
          <a:p>
            <a:r>
              <a:rPr sz="2600" b="1">
                <a:solidFill>
                  <a:srgbClr val="FFFFFF"/>
                </a:solidFill>
                <a:latin typeface="Century Gothic"/>
              </a:rPr>
              <a:t>АРМ «Генеральная схема» (2026)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72CC2784-A502-E550-2811-1BBA60E2BE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0" dirty="0" sz="1400">
                <a:solidFill>
                  <a:srgbClr val="FFFFFF"/>
                </a:solidFill>
                <a:latin typeface="Century Gothic"/>
              </a:rPr>
              <a:t>ТЗ – Приложение 1 · график – Приложение 3</a:t>
            </a:r>
          </a:p>
          <a:p>
            <a:r>
              <a:rPr sz="1400" b="0">
                <a:solidFill>
                  <a:srgbClr val="FFFFFF"/>
                </a:solidFill>
                <a:latin typeface="Century Gothic"/>
              </a:rPr>
              <a:t>Период: 12.01.2026 – 30.09.2026  ·  АО «НТЦ ЕЭС» · НИО-10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92AD1-5701-A9B6-8D85-D968B34C1DDD}"/>
              </a:ext>
            </a:extLst>
          </p:cNvPr>
          <p:cNvSpPr txBox="1"/>
          <p:nvPr/>
        </p:nvSpPr>
        <p:spPr>
          <a:xfrm>
            <a:off x="947057" y="3165783"/>
            <a:ext cx="7210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Clr>
                <a:srgbClr val="2A4E9E"/>
              </a:buClr>
              <a:buSzPct val="100000"/>
            </a:pPr>
            <a:r>
              <a:rPr lang="ru-RU" sz="1200" dirty="0">
                <a:solidFill>
                  <a:srgbClr val="DBC2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4143030948"/>
      </p:ext>
    </p:extLst>
  </p:cSld>
  <p:clrMapOvr>
    <a:masterClrMapping/>
  </p:clrMapOvr>
  <p:transition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DDDC5E-C163-4C36-98FE-317362FB4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270" y="869727"/>
            <a:ext cx="3867459" cy="289045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AE0F1-41E2-407D-8B3E-CA6EBF186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Верхнеуровневая</a:t>
            </a:r>
            <a:r>
              <a:rPr lang="ru-RU" dirty="0"/>
              <a:t> структура АРМ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8E6402-B3E8-4FF8-906C-45CF5800EC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2</a:t>
            </a:r>
            <a:endParaRPr lang="ru-RU"/>
          </a:p>
        </p:txBody>
      </p:sp>
      <p:sp>
        <p:nvSpPr>
          <p:cNvPr id="5" name="Облачко с текстом: прямоугольное со скругленными углами 4">
            <a:extLst>
              <a:ext uri="{FF2B5EF4-FFF2-40B4-BE49-F238E27FC236}">
                <a16:creationId xmlns:a16="http://schemas.microsoft.com/office/drawing/2014/main" id="{A69C70C7-D9D1-4216-9C49-C436239A986F}"/>
              </a:ext>
            </a:extLst>
          </p:cNvPr>
          <p:cNvSpPr/>
          <p:nvPr/>
        </p:nvSpPr>
        <p:spPr bwMode="auto">
          <a:xfrm>
            <a:off x="95630" y="1117568"/>
            <a:ext cx="1762125" cy="1155732"/>
          </a:xfrm>
          <a:prstGeom prst="wedgeRoundRectCallout">
            <a:avLst>
              <a:gd name="adj1" fmla="val 111524"/>
              <a:gd name="adj2" fmla="val -57001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2DEE10AA-B4D8-42F8-9004-01C60D2EBC44}"/>
              </a:ext>
            </a:extLst>
          </p:cNvPr>
          <p:cNvSpPr/>
          <p:nvPr/>
        </p:nvSpPr>
        <p:spPr>
          <a:xfrm>
            <a:off x="198787" y="1190082"/>
            <a:ext cx="1634728" cy="1012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Пользователь может выбрать любую доступную версию БД и работать с ней как с самостоятельной информационной моделью:</a:t>
            </a:r>
          </a:p>
          <a:p>
            <a:pPr marL="171450" indent="-171450" defTabSz="268288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БД1 = СиПР 2026-2031 (</a:t>
            </a:r>
            <a:r>
              <a:rPr lang="ru-RU" sz="700" dirty="0" err="1">
                <a:latin typeface="+mn-lt"/>
                <a:ea typeface="Source Sans 3" pitchFamily="34" charset="-122"/>
              </a:rPr>
              <a:t>утв</a:t>
            </a:r>
            <a:r>
              <a:rPr lang="ru-RU" sz="700" dirty="0">
                <a:latin typeface="+mn-lt"/>
                <a:ea typeface="Source Sans 3" pitchFamily="34" charset="-122"/>
              </a:rPr>
              <a:t>);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БД2 = СиПР 2027-2032 (план);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БД3 = ГС 2023-2042 (</a:t>
            </a:r>
            <a:r>
              <a:rPr lang="ru-RU" sz="700" dirty="0" err="1">
                <a:latin typeface="+mn-lt"/>
                <a:ea typeface="Source Sans 3" pitchFamily="34" charset="-122"/>
              </a:rPr>
              <a:t>утв</a:t>
            </a: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)</a:t>
            </a:r>
          </a:p>
        </p:txBody>
      </p:sp>
      <p:sp>
        <p:nvSpPr>
          <p:cNvPr id="10" name="Облачко с текстом: прямоугольное со скругленными углами 9">
            <a:extLst>
              <a:ext uri="{FF2B5EF4-FFF2-40B4-BE49-F238E27FC236}">
                <a16:creationId xmlns:a16="http://schemas.microsoft.com/office/drawing/2014/main" id="{F5550FA9-DE59-4DB5-8A1E-341C37EF7551}"/>
              </a:ext>
            </a:extLst>
          </p:cNvPr>
          <p:cNvSpPr/>
          <p:nvPr/>
        </p:nvSpPr>
        <p:spPr bwMode="auto">
          <a:xfrm>
            <a:off x="327920" y="2916230"/>
            <a:ext cx="1625465" cy="906470"/>
          </a:xfrm>
          <a:prstGeom prst="wedgeRoundRectCallout">
            <a:avLst>
              <a:gd name="adj1" fmla="val 115109"/>
              <a:gd name="adj2" fmla="val -3456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3CF0303B-05F5-4AAF-9450-3A2586AD49CE}"/>
              </a:ext>
            </a:extLst>
          </p:cNvPr>
          <p:cNvSpPr/>
          <p:nvPr/>
        </p:nvSpPr>
        <p:spPr>
          <a:xfrm>
            <a:off x="423627" y="2991831"/>
            <a:ext cx="1434128" cy="756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Пользователю могут быть присвоены следующие роли:</a:t>
            </a:r>
          </a:p>
          <a:p>
            <a:pPr marL="171450" indent="-171450" defTabSz="268288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админ;</a:t>
            </a:r>
          </a:p>
          <a:p>
            <a:pPr marL="171450" indent="-171450" defTabSz="268288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гость;</a:t>
            </a:r>
          </a:p>
          <a:p>
            <a:pPr marL="171450" indent="-171450" defTabSz="268288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админ / редактор / чтение в конкретном модуле</a:t>
            </a:r>
          </a:p>
        </p:txBody>
      </p:sp>
      <p:sp>
        <p:nvSpPr>
          <p:cNvPr id="30" name="Облачко с текстом: прямоугольное со скругленными углами 29">
            <a:extLst>
              <a:ext uri="{FF2B5EF4-FFF2-40B4-BE49-F238E27FC236}">
                <a16:creationId xmlns:a16="http://schemas.microsoft.com/office/drawing/2014/main" id="{223B0F82-975B-4A11-9267-E2B65243C79C}"/>
              </a:ext>
            </a:extLst>
          </p:cNvPr>
          <p:cNvSpPr/>
          <p:nvPr/>
        </p:nvSpPr>
        <p:spPr bwMode="auto">
          <a:xfrm>
            <a:off x="7190614" y="988769"/>
            <a:ext cx="1857756" cy="914389"/>
          </a:xfrm>
          <a:prstGeom prst="wedgeRoundRectCallout">
            <a:avLst>
              <a:gd name="adj1" fmla="val -109843"/>
              <a:gd name="adj2" fmla="val -48261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44ABC068-C56C-47B6-AC2F-09A41FAB3EC5}"/>
              </a:ext>
            </a:extLst>
          </p:cNvPr>
          <p:cNvSpPr/>
          <p:nvPr/>
        </p:nvSpPr>
        <p:spPr>
          <a:xfrm>
            <a:off x="7253903" y="1068519"/>
            <a:ext cx="1762125" cy="756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Фиксация действий пользователей</a:t>
            </a:r>
          </a:p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В том числе:</a:t>
            </a:r>
          </a:p>
          <a:p>
            <a:pPr marL="171450" indent="-171450" defTabSz="268288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вход и выход из системы;</a:t>
            </a:r>
          </a:p>
          <a:p>
            <a:pPr marL="171450" indent="-171450" defTabSz="268288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загрузка и редактирование данных;</a:t>
            </a:r>
          </a:p>
          <a:p>
            <a:pPr marL="171450" indent="-171450" defTabSz="268288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удаление и объединение записей</a:t>
            </a:r>
          </a:p>
        </p:txBody>
      </p:sp>
      <p:sp>
        <p:nvSpPr>
          <p:cNvPr id="31" name="Облачко с текстом: прямоугольное со скругленными углами 30">
            <a:extLst>
              <a:ext uri="{FF2B5EF4-FFF2-40B4-BE49-F238E27FC236}">
                <a16:creationId xmlns:a16="http://schemas.microsoft.com/office/drawing/2014/main" id="{E4BA8626-CBEB-4A83-A6EC-1CF4BEE22E36}"/>
              </a:ext>
            </a:extLst>
          </p:cNvPr>
          <p:cNvSpPr/>
          <p:nvPr/>
        </p:nvSpPr>
        <p:spPr bwMode="auto">
          <a:xfrm>
            <a:off x="7017964" y="2021773"/>
            <a:ext cx="1914534" cy="1347261"/>
          </a:xfrm>
          <a:prstGeom prst="wedgeRoundRectCallout">
            <a:avLst>
              <a:gd name="adj1" fmla="val -131685"/>
              <a:gd name="adj2" fmla="val 18313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12236B-B26C-4F26-A7E6-E6AFC2707B1C}"/>
              </a:ext>
            </a:extLst>
          </p:cNvPr>
          <p:cNvSpPr txBox="1"/>
          <p:nvPr/>
        </p:nvSpPr>
        <p:spPr>
          <a:xfrm>
            <a:off x="7064263" y="2007379"/>
            <a:ext cx="1868235" cy="1361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</a:rPr>
              <a:t>Пользователь может ознакомиться с используемыми в модулях справочниками: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территориальная структура;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энергосистема и зона;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топливо и технологии;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отраслевые классификаторы и виды затрат;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периоды планирования 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генерация и оборудование;</a:t>
            </a:r>
          </a:p>
        </p:txBody>
      </p:sp>
      <p:sp>
        <p:nvSpPr>
          <p:cNvPr id="32" name="Облачко с текстом: прямоугольное со скругленными углами 31">
            <a:extLst>
              <a:ext uri="{FF2B5EF4-FFF2-40B4-BE49-F238E27FC236}">
                <a16:creationId xmlns:a16="http://schemas.microsoft.com/office/drawing/2014/main" id="{0F7785E8-E70E-4190-9B59-BAABA034E58D}"/>
              </a:ext>
            </a:extLst>
          </p:cNvPr>
          <p:cNvSpPr/>
          <p:nvPr/>
        </p:nvSpPr>
        <p:spPr bwMode="auto">
          <a:xfrm>
            <a:off x="6946887" y="3923248"/>
            <a:ext cx="1955241" cy="1151359"/>
          </a:xfrm>
          <a:prstGeom prst="wedgeRoundRectCallout">
            <a:avLst>
              <a:gd name="adj1" fmla="val -82425"/>
              <a:gd name="adj2" fmla="val -94252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698FC36E-6641-4511-A651-7EB851F7A054}"/>
              </a:ext>
            </a:extLst>
          </p:cNvPr>
          <p:cNvSpPr/>
          <p:nvPr/>
        </p:nvSpPr>
        <p:spPr>
          <a:xfrm>
            <a:off x="7083056" y="3985224"/>
            <a:ext cx="1784350" cy="101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Для модулей Нагрузки, Спрос и Балансы предусмотрены варианты с: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измененным составом и статусом территорий;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с учетом особенностей Калининградской области;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700" dirty="0">
                <a:latin typeface="+mn-lt"/>
                <a:ea typeface="Source Sans 3" pitchFamily="34" charset="-122"/>
              </a:rPr>
              <a:t>с потреблением </a:t>
            </a:r>
            <a:r>
              <a:rPr lang="ru-RU" sz="700" dirty="0" err="1">
                <a:latin typeface="+mn-lt"/>
                <a:ea typeface="Source Sans 3" pitchFamily="34" charset="-122"/>
              </a:rPr>
              <a:t>ГАЭС</a:t>
            </a:r>
            <a:r>
              <a:rPr lang="ru-RU" sz="700" dirty="0">
                <a:latin typeface="+mn-lt"/>
                <a:ea typeface="Source Sans 3" pitchFamily="34" charset="-122"/>
              </a:rPr>
              <a:t> на заряд / без него</a:t>
            </a:r>
          </a:p>
        </p:txBody>
      </p:sp>
      <p:sp>
        <p:nvSpPr>
          <p:cNvPr id="24" name="Облачко с текстом: прямоугольное со скругленными углами 23">
            <a:extLst>
              <a:ext uri="{FF2B5EF4-FFF2-40B4-BE49-F238E27FC236}">
                <a16:creationId xmlns:a16="http://schemas.microsoft.com/office/drawing/2014/main" id="{7F55F2AB-BD58-4CD4-991D-7A6C69BD021D}"/>
              </a:ext>
            </a:extLst>
          </p:cNvPr>
          <p:cNvSpPr/>
          <p:nvPr/>
        </p:nvSpPr>
        <p:spPr bwMode="auto">
          <a:xfrm>
            <a:off x="2792125" y="4264007"/>
            <a:ext cx="1529757" cy="734508"/>
          </a:xfrm>
          <a:prstGeom prst="wedgeRoundRectCallout">
            <a:avLst>
              <a:gd name="adj1" fmla="val 109237"/>
              <a:gd name="adj2" fmla="val -115406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D3BD1412-D282-473A-A19F-6A7F48802E8A}"/>
              </a:ext>
            </a:extLst>
          </p:cNvPr>
          <p:cNvSpPr/>
          <p:nvPr/>
        </p:nvSpPr>
        <p:spPr>
          <a:xfrm>
            <a:off x="2870639" y="4314884"/>
            <a:ext cx="1439685" cy="62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Формирование </a:t>
            </a:r>
            <a:r>
              <a:rPr lang="ru-RU" sz="700" dirty="0" err="1">
                <a:latin typeface="+mn-lt"/>
                <a:ea typeface="Source Sans 3" pitchFamily="34" charset="-122"/>
                <a:cs typeface="Source Sans 3" pitchFamily="34" charset="-120"/>
              </a:rPr>
              <a:t>JSON</a:t>
            </a: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-файлов по данным выбранной версии БД и их передача для формирования выходных документов</a:t>
            </a:r>
            <a:endParaRPr lang="ru-RU" sz="700" dirty="0">
              <a:latin typeface="+mn-lt"/>
              <a:ea typeface="Source Sans 3" pitchFamily="3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052767550"/>
      </p:ext>
    </p:extLst>
  </p:cSld>
  <p:clrMapOvr>
    <a:masterClrMapping/>
  </p:clrMapOvr>
  <p:transition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3ABFA2-CE41-402C-9152-37ED95D62B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55"/>
          <a:stretch/>
        </p:blipFill>
        <p:spPr>
          <a:xfrm>
            <a:off x="259874" y="866448"/>
            <a:ext cx="2167118" cy="1795729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C36A3-849B-4FA2-8F40-319BA20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Генерация (Интерфейс) – 1</a:t>
            </a:r>
            <a:br>
              <a:rPr lang="ru-RU" dirty="0"/>
            </a:br>
            <a:r>
              <a:rPr lang="ru-RU" dirty="0"/>
              <a:t>Электростанции РФ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776C1-8FE3-45C5-8928-C8BCBB2B0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5</a:t>
            </a:r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76DEFD-8A82-4C4A-9245-B3CB39312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732" y="1947761"/>
            <a:ext cx="5456639" cy="2244775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C077123-F49A-4A45-B885-D50F203DA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40" y="3681431"/>
            <a:ext cx="2212305" cy="1191241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658DD732-5AED-440E-9438-C0B41F06FD1D}"/>
              </a:ext>
            </a:extLst>
          </p:cNvPr>
          <p:cNvSpPr/>
          <p:nvPr/>
        </p:nvSpPr>
        <p:spPr bwMode="auto">
          <a:xfrm rot="1154344">
            <a:off x="2686229" y="1875799"/>
            <a:ext cx="700269" cy="503499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997B2FAE-304F-4709-9681-49E2E0FD46D9}"/>
              </a:ext>
            </a:extLst>
          </p:cNvPr>
          <p:cNvSpPr/>
          <p:nvPr/>
        </p:nvSpPr>
        <p:spPr bwMode="auto">
          <a:xfrm>
            <a:off x="1244278" y="2789499"/>
            <a:ext cx="462988" cy="787078"/>
          </a:xfrm>
          <a:prstGeom prst="down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10" name="Облачко с текстом: прямоугольное со скругленными углами 9">
            <a:extLst>
              <a:ext uri="{FF2B5EF4-FFF2-40B4-BE49-F238E27FC236}">
                <a16:creationId xmlns:a16="http://schemas.microsoft.com/office/drawing/2014/main" id="{C38A8CB4-FF8F-40EF-98D1-3DD91E053550}"/>
              </a:ext>
            </a:extLst>
          </p:cNvPr>
          <p:cNvSpPr/>
          <p:nvPr/>
        </p:nvSpPr>
        <p:spPr bwMode="auto">
          <a:xfrm>
            <a:off x="2066697" y="2878667"/>
            <a:ext cx="1383201" cy="688082"/>
          </a:xfrm>
          <a:prstGeom prst="wedgeRoundRectCallout">
            <a:avLst>
              <a:gd name="adj1" fmla="val -68123"/>
              <a:gd name="adj2" fmla="val -90400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D2163DE-C0CB-4C24-95FB-ED473F29A975}"/>
              </a:ext>
            </a:extLst>
          </p:cNvPr>
          <p:cNvSpPr/>
          <p:nvPr/>
        </p:nvSpPr>
        <p:spPr>
          <a:xfrm>
            <a:off x="2135987" y="2905533"/>
            <a:ext cx="1242213" cy="628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Сопоставление электростанций и оборудования между версиями БД по внешним кодам</a:t>
            </a:r>
          </a:p>
        </p:txBody>
      </p:sp>
      <p:sp>
        <p:nvSpPr>
          <p:cNvPr id="13" name="Облачко с текстом: прямоугольное со скругленными углами 12">
            <a:extLst>
              <a:ext uri="{FF2B5EF4-FFF2-40B4-BE49-F238E27FC236}">
                <a16:creationId xmlns:a16="http://schemas.microsoft.com/office/drawing/2014/main" id="{905168D6-E2D5-4D59-AA87-F8280082A014}"/>
              </a:ext>
            </a:extLst>
          </p:cNvPr>
          <p:cNvSpPr/>
          <p:nvPr/>
        </p:nvSpPr>
        <p:spPr bwMode="auto">
          <a:xfrm>
            <a:off x="2749545" y="937893"/>
            <a:ext cx="1181085" cy="519501"/>
          </a:xfrm>
          <a:prstGeom prst="wedgeRoundRectCallout">
            <a:avLst>
              <a:gd name="adj1" fmla="val 50914"/>
              <a:gd name="adj2" fmla="val 169235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FDE4D51-16B8-490B-A73B-38DE98519CCE}"/>
              </a:ext>
            </a:extLst>
          </p:cNvPr>
          <p:cNvSpPr/>
          <p:nvPr/>
        </p:nvSpPr>
        <p:spPr>
          <a:xfrm>
            <a:off x="2834580" y="1009841"/>
            <a:ext cx="1066382" cy="37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Состав и технические характеристики электростанций и ГО</a:t>
            </a:r>
          </a:p>
        </p:txBody>
      </p:sp>
      <p:sp>
        <p:nvSpPr>
          <p:cNvPr id="16" name="Облачко с текстом: прямоугольное со скругленными углами 15">
            <a:extLst>
              <a:ext uri="{FF2B5EF4-FFF2-40B4-BE49-F238E27FC236}">
                <a16:creationId xmlns:a16="http://schemas.microsoft.com/office/drawing/2014/main" id="{33844B96-3258-45D0-874C-D8950C7AD6B4}"/>
              </a:ext>
            </a:extLst>
          </p:cNvPr>
          <p:cNvSpPr/>
          <p:nvPr/>
        </p:nvSpPr>
        <p:spPr bwMode="auto">
          <a:xfrm>
            <a:off x="3564765" y="4369708"/>
            <a:ext cx="1368785" cy="502964"/>
          </a:xfrm>
          <a:prstGeom prst="wedgeRoundRectCallout">
            <a:avLst>
              <a:gd name="adj1" fmla="val -116666"/>
              <a:gd name="adj2" fmla="val -151694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52498DAF-9502-41C5-AFD8-3E63D7047E80}"/>
              </a:ext>
            </a:extLst>
          </p:cNvPr>
          <p:cNvSpPr/>
          <p:nvPr/>
        </p:nvSpPr>
        <p:spPr>
          <a:xfrm>
            <a:off x="3600315" y="4428648"/>
            <a:ext cx="1333235" cy="37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Агрегация показателей мощности по уровням территориальной иерархии</a:t>
            </a:r>
          </a:p>
        </p:txBody>
      </p:sp>
      <p:sp>
        <p:nvSpPr>
          <p:cNvPr id="19" name="Облачко с текстом: прямоугольное со скругленными углами 18">
            <a:extLst>
              <a:ext uri="{FF2B5EF4-FFF2-40B4-BE49-F238E27FC236}">
                <a16:creationId xmlns:a16="http://schemas.microsoft.com/office/drawing/2014/main" id="{0A0168B0-ACE2-4692-8606-EBF22CC2F234}"/>
              </a:ext>
            </a:extLst>
          </p:cNvPr>
          <p:cNvSpPr/>
          <p:nvPr/>
        </p:nvSpPr>
        <p:spPr bwMode="auto">
          <a:xfrm>
            <a:off x="4438563" y="1096362"/>
            <a:ext cx="569339" cy="477703"/>
          </a:xfrm>
          <a:prstGeom prst="wedgeRoundRectCallout">
            <a:avLst>
              <a:gd name="adj1" fmla="val -62734"/>
              <a:gd name="adj2" fmla="val 179870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7DC4BB92-2C2A-4364-AAD6-47F6CA25C624}"/>
              </a:ext>
            </a:extLst>
          </p:cNvPr>
          <p:cNvSpPr/>
          <p:nvPr/>
        </p:nvSpPr>
        <p:spPr>
          <a:xfrm>
            <a:off x="4516679" y="1146401"/>
            <a:ext cx="445406" cy="37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Импорт и экспорт данных</a:t>
            </a:r>
          </a:p>
        </p:txBody>
      </p:sp>
      <p:sp>
        <p:nvSpPr>
          <p:cNvPr id="25" name="Облачко с текстом: прямоугольное со скругленными углами 24">
            <a:extLst>
              <a:ext uri="{FF2B5EF4-FFF2-40B4-BE49-F238E27FC236}">
                <a16:creationId xmlns:a16="http://schemas.microsoft.com/office/drawing/2014/main" id="{0CC15693-EBFA-4B04-B336-463477658FF2}"/>
              </a:ext>
            </a:extLst>
          </p:cNvPr>
          <p:cNvSpPr/>
          <p:nvPr/>
        </p:nvSpPr>
        <p:spPr bwMode="auto">
          <a:xfrm>
            <a:off x="7468734" y="917774"/>
            <a:ext cx="700440" cy="447109"/>
          </a:xfrm>
          <a:prstGeom prst="wedgeRoundRectCallout">
            <a:avLst>
              <a:gd name="adj1" fmla="val 115603"/>
              <a:gd name="adj2" fmla="val 300196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A35BD4B3-DBDA-4192-A13E-77D5EE77A796}"/>
              </a:ext>
            </a:extLst>
          </p:cNvPr>
          <p:cNvSpPr/>
          <p:nvPr/>
        </p:nvSpPr>
        <p:spPr>
          <a:xfrm>
            <a:off x="7533946" y="935577"/>
            <a:ext cx="635228" cy="37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Настройка округления показателей</a:t>
            </a:r>
          </a:p>
        </p:txBody>
      </p:sp>
      <p:sp>
        <p:nvSpPr>
          <p:cNvPr id="28" name="Облачко с текстом: прямоугольное со скругленными углами 27">
            <a:extLst>
              <a:ext uri="{FF2B5EF4-FFF2-40B4-BE49-F238E27FC236}">
                <a16:creationId xmlns:a16="http://schemas.microsoft.com/office/drawing/2014/main" id="{ECC88330-4F34-48D6-ACC1-C06B942A6BE0}"/>
              </a:ext>
            </a:extLst>
          </p:cNvPr>
          <p:cNvSpPr/>
          <p:nvPr/>
        </p:nvSpPr>
        <p:spPr bwMode="auto">
          <a:xfrm>
            <a:off x="5461570" y="950964"/>
            <a:ext cx="1396430" cy="464583"/>
          </a:xfrm>
          <a:prstGeom prst="wedgeRoundRectCallout">
            <a:avLst>
              <a:gd name="adj1" fmla="val -90414"/>
              <a:gd name="adj2" fmla="val 255042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8FE18D05-BABC-40DA-83FC-B1D6981DECB0}"/>
              </a:ext>
            </a:extLst>
          </p:cNvPr>
          <p:cNvSpPr/>
          <p:nvPr/>
        </p:nvSpPr>
        <p:spPr>
          <a:xfrm>
            <a:off x="5527309" y="992473"/>
            <a:ext cx="1330691" cy="37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Поиск, фильтрация и выбор периода отображения данных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015484830"/>
      </p:ext>
    </p:extLst>
  </p:cSld>
  <p:clrMapOvr>
    <a:masterClrMapping/>
  </p:clrMapOvr>
  <p:transition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BE686-FB31-4177-8BA6-590FA5F0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Генерация (Интерфейс) – 2</a:t>
            </a:r>
            <a:br>
              <a:rPr lang="ru-RU" dirty="0"/>
            </a:br>
            <a:r>
              <a:rPr lang="ru-RU" dirty="0"/>
              <a:t>Карточки электростанций и агрегатов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E247D2-EEAD-470B-8568-B194B9F8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6</a:t>
            </a:r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6793B5E-A8CB-4400-A813-390793507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607" y="791431"/>
            <a:ext cx="5226599" cy="3266185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9A6B04E-69AD-4024-97C7-A95C5A682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28" y="3451092"/>
            <a:ext cx="6745720" cy="1489374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C357FB6-73BB-4645-803B-14A544DA4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702" y="1802732"/>
            <a:ext cx="5902093" cy="1613495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B5B09F-797C-493B-B2EF-A0AB8FDC32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960" y="3959231"/>
            <a:ext cx="2799476" cy="1053534"/>
          </a:xfrm>
          <a:prstGeom prst="roundRect">
            <a:avLst>
              <a:gd name="adj" fmla="val 0"/>
            </a:avLst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2419ED-B863-43D5-A376-51C97A2B8FE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555"/>
          <a:stretch/>
        </p:blipFill>
        <p:spPr>
          <a:xfrm>
            <a:off x="135617" y="922603"/>
            <a:ext cx="1396377" cy="1103957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848F5AC3-3050-4C7E-B043-8D1E80AE89FE}"/>
              </a:ext>
            </a:extLst>
          </p:cNvPr>
          <p:cNvSpPr/>
          <p:nvPr/>
        </p:nvSpPr>
        <p:spPr bwMode="auto">
          <a:xfrm rot="18122851">
            <a:off x="1377397" y="1558337"/>
            <a:ext cx="357303" cy="688751"/>
          </a:xfrm>
          <a:prstGeom prst="down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Облачко с текстом: прямоугольное со скругленными углами 16">
            <a:extLst>
              <a:ext uri="{FF2B5EF4-FFF2-40B4-BE49-F238E27FC236}">
                <a16:creationId xmlns:a16="http://schemas.microsoft.com/office/drawing/2014/main" id="{456FBA4F-884A-44AD-B9A4-997F389A890D}"/>
              </a:ext>
            </a:extLst>
          </p:cNvPr>
          <p:cNvSpPr/>
          <p:nvPr/>
        </p:nvSpPr>
        <p:spPr bwMode="auto">
          <a:xfrm>
            <a:off x="7467321" y="998991"/>
            <a:ext cx="1396377" cy="514952"/>
          </a:xfrm>
          <a:prstGeom prst="wedgeRoundRectCallout">
            <a:avLst>
              <a:gd name="adj1" fmla="val -85548"/>
              <a:gd name="adj2" fmla="val 146406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1CB61268-F165-45DA-A3EA-74480E08774C}"/>
              </a:ext>
            </a:extLst>
          </p:cNvPr>
          <p:cNvSpPr/>
          <p:nvPr/>
        </p:nvSpPr>
        <p:spPr>
          <a:xfrm>
            <a:off x="7528596" y="1069761"/>
            <a:ext cx="1295423" cy="37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Ввод, вывод, модернизация и изменение УМ оборудования</a:t>
            </a:r>
          </a:p>
        </p:txBody>
      </p:sp>
      <p:sp>
        <p:nvSpPr>
          <p:cNvPr id="20" name="Облачко с текстом: прямоугольное со скругленными углами 19">
            <a:extLst>
              <a:ext uri="{FF2B5EF4-FFF2-40B4-BE49-F238E27FC236}">
                <a16:creationId xmlns:a16="http://schemas.microsoft.com/office/drawing/2014/main" id="{B67B2AFC-82A1-486B-963D-560E3F78C0FD}"/>
              </a:ext>
            </a:extLst>
          </p:cNvPr>
          <p:cNvSpPr/>
          <p:nvPr/>
        </p:nvSpPr>
        <p:spPr bwMode="auto">
          <a:xfrm>
            <a:off x="3879588" y="4448068"/>
            <a:ext cx="1396377" cy="579611"/>
          </a:xfrm>
          <a:prstGeom prst="wedgeRoundRectCallout">
            <a:avLst>
              <a:gd name="adj1" fmla="val 79071"/>
              <a:gd name="adj2" fmla="val -82983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D10A4210-46FA-46BC-B661-EE4FADA6BB0B}"/>
              </a:ext>
            </a:extLst>
          </p:cNvPr>
          <p:cNvSpPr/>
          <p:nvPr/>
        </p:nvSpPr>
        <p:spPr>
          <a:xfrm>
            <a:off x="3940863" y="4493439"/>
            <a:ext cx="1295423" cy="500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Нормативные документы, являющиеся основанием для изменения параметров ГО</a:t>
            </a: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6E15936D-E74C-4962-976B-D9D14CE9A00B}"/>
              </a:ext>
            </a:extLst>
          </p:cNvPr>
          <p:cNvSpPr/>
          <p:nvPr/>
        </p:nvSpPr>
        <p:spPr bwMode="auto">
          <a:xfrm>
            <a:off x="1714652" y="1104900"/>
            <a:ext cx="815725" cy="277207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DA7D9AD6-F0D4-4B01-B241-366EE0AF6A8F}"/>
              </a:ext>
            </a:extLst>
          </p:cNvPr>
          <p:cNvSpPr/>
          <p:nvPr/>
        </p:nvSpPr>
        <p:spPr bwMode="auto">
          <a:xfrm rot="5400000">
            <a:off x="264205" y="2631929"/>
            <a:ext cx="1167327" cy="277207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4" name="Облачко с текстом: прямоугольное со скругленными углами 23">
            <a:extLst>
              <a:ext uri="{FF2B5EF4-FFF2-40B4-BE49-F238E27FC236}">
                <a16:creationId xmlns:a16="http://schemas.microsoft.com/office/drawing/2014/main" id="{DAAA44C8-E2A4-47A5-9ED7-1FF45C4BFD28}"/>
              </a:ext>
            </a:extLst>
          </p:cNvPr>
          <p:cNvSpPr/>
          <p:nvPr/>
        </p:nvSpPr>
        <p:spPr bwMode="auto">
          <a:xfrm>
            <a:off x="5930600" y="1515725"/>
            <a:ext cx="788227" cy="514951"/>
          </a:xfrm>
          <a:prstGeom prst="wedgeRoundRectCallout">
            <a:avLst>
              <a:gd name="adj1" fmla="val -96001"/>
              <a:gd name="adj2" fmla="val 90228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E1B76208-8B3A-4781-91D8-25F377E02394}"/>
              </a:ext>
            </a:extLst>
          </p:cNvPr>
          <p:cNvSpPr/>
          <p:nvPr/>
        </p:nvSpPr>
        <p:spPr>
          <a:xfrm>
            <a:off x="6035038" y="1578601"/>
            <a:ext cx="617045" cy="37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Визуальное выделение изменений</a:t>
            </a:r>
          </a:p>
        </p:txBody>
      </p:sp>
      <p:sp>
        <p:nvSpPr>
          <p:cNvPr id="27" name="Облачко с текстом: прямоугольное со скругленными углами 26">
            <a:extLst>
              <a:ext uri="{FF2B5EF4-FFF2-40B4-BE49-F238E27FC236}">
                <a16:creationId xmlns:a16="http://schemas.microsoft.com/office/drawing/2014/main" id="{582EDEB9-9C67-4594-AE02-B80F7A7A1821}"/>
              </a:ext>
            </a:extLst>
          </p:cNvPr>
          <p:cNvSpPr/>
          <p:nvPr/>
        </p:nvSpPr>
        <p:spPr bwMode="auto">
          <a:xfrm>
            <a:off x="7145526" y="2123456"/>
            <a:ext cx="1974741" cy="1581745"/>
          </a:xfrm>
          <a:custGeom>
            <a:avLst/>
            <a:gdLst>
              <a:gd name="connsiteX0" fmla="*/ 0 w 1666071"/>
              <a:gd name="connsiteY0" fmla="*/ 195612 h 1173646"/>
              <a:gd name="connsiteX1" fmla="*/ 195612 w 1666071"/>
              <a:gd name="connsiteY1" fmla="*/ 0 h 1173646"/>
              <a:gd name="connsiteX2" fmla="*/ 277679 w 1666071"/>
              <a:gd name="connsiteY2" fmla="*/ 0 h 1173646"/>
              <a:gd name="connsiteX3" fmla="*/ 277679 w 1666071"/>
              <a:gd name="connsiteY3" fmla="*/ 0 h 1173646"/>
              <a:gd name="connsiteX4" fmla="*/ 694196 w 1666071"/>
              <a:gd name="connsiteY4" fmla="*/ 0 h 1173646"/>
              <a:gd name="connsiteX5" fmla="*/ 1470459 w 1666071"/>
              <a:gd name="connsiteY5" fmla="*/ 0 h 1173646"/>
              <a:gd name="connsiteX6" fmla="*/ 1666071 w 1666071"/>
              <a:gd name="connsiteY6" fmla="*/ 195612 h 1173646"/>
              <a:gd name="connsiteX7" fmla="*/ 1666071 w 1666071"/>
              <a:gd name="connsiteY7" fmla="*/ 684627 h 1173646"/>
              <a:gd name="connsiteX8" fmla="*/ 1666071 w 1666071"/>
              <a:gd name="connsiteY8" fmla="*/ 684627 h 1173646"/>
              <a:gd name="connsiteX9" fmla="*/ 1666071 w 1666071"/>
              <a:gd name="connsiteY9" fmla="*/ 978038 h 1173646"/>
              <a:gd name="connsiteX10" fmla="*/ 1666071 w 1666071"/>
              <a:gd name="connsiteY10" fmla="*/ 978034 h 1173646"/>
              <a:gd name="connsiteX11" fmla="*/ 1470459 w 1666071"/>
              <a:gd name="connsiteY11" fmla="*/ 1173646 h 1173646"/>
              <a:gd name="connsiteX12" fmla="*/ 694196 w 1666071"/>
              <a:gd name="connsiteY12" fmla="*/ 1173646 h 1173646"/>
              <a:gd name="connsiteX13" fmla="*/ 277679 w 1666071"/>
              <a:gd name="connsiteY13" fmla="*/ 1173646 h 1173646"/>
              <a:gd name="connsiteX14" fmla="*/ 277679 w 1666071"/>
              <a:gd name="connsiteY14" fmla="*/ 1173646 h 1173646"/>
              <a:gd name="connsiteX15" fmla="*/ 195612 w 1666071"/>
              <a:gd name="connsiteY15" fmla="*/ 1173646 h 1173646"/>
              <a:gd name="connsiteX16" fmla="*/ 0 w 1666071"/>
              <a:gd name="connsiteY16" fmla="*/ 978034 h 1173646"/>
              <a:gd name="connsiteX17" fmla="*/ 0 w 1666071"/>
              <a:gd name="connsiteY17" fmla="*/ 978038 h 1173646"/>
              <a:gd name="connsiteX18" fmla="*/ -549970 w 1666071"/>
              <a:gd name="connsiteY18" fmla="*/ 1238654 h 1173646"/>
              <a:gd name="connsiteX19" fmla="*/ 0 w 1666071"/>
              <a:gd name="connsiteY19" fmla="*/ 684627 h 1173646"/>
              <a:gd name="connsiteX20" fmla="*/ 0 w 1666071"/>
              <a:gd name="connsiteY20" fmla="*/ 195612 h 1173646"/>
              <a:gd name="connsiteX0" fmla="*/ 549970 w 2216041"/>
              <a:gd name="connsiteY0" fmla="*/ 684562 h 1727604"/>
              <a:gd name="connsiteX1" fmla="*/ 745582 w 2216041"/>
              <a:gd name="connsiteY1" fmla="*/ 488950 h 1727604"/>
              <a:gd name="connsiteX2" fmla="*/ 827649 w 2216041"/>
              <a:gd name="connsiteY2" fmla="*/ 488950 h 1727604"/>
              <a:gd name="connsiteX3" fmla="*/ 706999 w 2216041"/>
              <a:gd name="connsiteY3" fmla="*/ 0 h 1727604"/>
              <a:gd name="connsiteX4" fmla="*/ 1244166 w 2216041"/>
              <a:gd name="connsiteY4" fmla="*/ 488950 h 1727604"/>
              <a:gd name="connsiteX5" fmla="*/ 2020429 w 2216041"/>
              <a:gd name="connsiteY5" fmla="*/ 488950 h 1727604"/>
              <a:gd name="connsiteX6" fmla="*/ 2216041 w 2216041"/>
              <a:gd name="connsiteY6" fmla="*/ 684562 h 1727604"/>
              <a:gd name="connsiteX7" fmla="*/ 2216041 w 2216041"/>
              <a:gd name="connsiteY7" fmla="*/ 1173577 h 1727604"/>
              <a:gd name="connsiteX8" fmla="*/ 2216041 w 2216041"/>
              <a:gd name="connsiteY8" fmla="*/ 1173577 h 1727604"/>
              <a:gd name="connsiteX9" fmla="*/ 2216041 w 2216041"/>
              <a:gd name="connsiteY9" fmla="*/ 1466988 h 1727604"/>
              <a:gd name="connsiteX10" fmla="*/ 2216041 w 2216041"/>
              <a:gd name="connsiteY10" fmla="*/ 1466984 h 1727604"/>
              <a:gd name="connsiteX11" fmla="*/ 2020429 w 2216041"/>
              <a:gd name="connsiteY11" fmla="*/ 1662596 h 1727604"/>
              <a:gd name="connsiteX12" fmla="*/ 1244166 w 2216041"/>
              <a:gd name="connsiteY12" fmla="*/ 1662596 h 1727604"/>
              <a:gd name="connsiteX13" fmla="*/ 827649 w 2216041"/>
              <a:gd name="connsiteY13" fmla="*/ 1662596 h 1727604"/>
              <a:gd name="connsiteX14" fmla="*/ 827649 w 2216041"/>
              <a:gd name="connsiteY14" fmla="*/ 1662596 h 1727604"/>
              <a:gd name="connsiteX15" fmla="*/ 745582 w 2216041"/>
              <a:gd name="connsiteY15" fmla="*/ 1662596 h 1727604"/>
              <a:gd name="connsiteX16" fmla="*/ 549970 w 2216041"/>
              <a:gd name="connsiteY16" fmla="*/ 1466984 h 1727604"/>
              <a:gd name="connsiteX17" fmla="*/ 549970 w 2216041"/>
              <a:gd name="connsiteY17" fmla="*/ 1466988 h 1727604"/>
              <a:gd name="connsiteX18" fmla="*/ 0 w 2216041"/>
              <a:gd name="connsiteY18" fmla="*/ 1727604 h 1727604"/>
              <a:gd name="connsiteX19" fmla="*/ 549970 w 2216041"/>
              <a:gd name="connsiteY19" fmla="*/ 1173577 h 1727604"/>
              <a:gd name="connsiteX20" fmla="*/ 549970 w 2216041"/>
              <a:gd name="connsiteY20" fmla="*/ 684562 h 1727604"/>
              <a:gd name="connsiteX0" fmla="*/ 308670 w 1974741"/>
              <a:gd name="connsiteY0" fmla="*/ 684562 h 1693609"/>
              <a:gd name="connsiteX1" fmla="*/ 504282 w 1974741"/>
              <a:gd name="connsiteY1" fmla="*/ 488950 h 1693609"/>
              <a:gd name="connsiteX2" fmla="*/ 586349 w 1974741"/>
              <a:gd name="connsiteY2" fmla="*/ 488950 h 1693609"/>
              <a:gd name="connsiteX3" fmla="*/ 465699 w 1974741"/>
              <a:gd name="connsiteY3" fmla="*/ 0 h 1693609"/>
              <a:gd name="connsiteX4" fmla="*/ 1002866 w 1974741"/>
              <a:gd name="connsiteY4" fmla="*/ 488950 h 1693609"/>
              <a:gd name="connsiteX5" fmla="*/ 1779129 w 1974741"/>
              <a:gd name="connsiteY5" fmla="*/ 488950 h 1693609"/>
              <a:gd name="connsiteX6" fmla="*/ 1974741 w 1974741"/>
              <a:gd name="connsiteY6" fmla="*/ 684562 h 1693609"/>
              <a:gd name="connsiteX7" fmla="*/ 1974741 w 1974741"/>
              <a:gd name="connsiteY7" fmla="*/ 1173577 h 1693609"/>
              <a:gd name="connsiteX8" fmla="*/ 1974741 w 1974741"/>
              <a:gd name="connsiteY8" fmla="*/ 1173577 h 1693609"/>
              <a:gd name="connsiteX9" fmla="*/ 1974741 w 1974741"/>
              <a:gd name="connsiteY9" fmla="*/ 1466988 h 1693609"/>
              <a:gd name="connsiteX10" fmla="*/ 1974741 w 1974741"/>
              <a:gd name="connsiteY10" fmla="*/ 1466984 h 1693609"/>
              <a:gd name="connsiteX11" fmla="*/ 1779129 w 1974741"/>
              <a:gd name="connsiteY11" fmla="*/ 1662596 h 1693609"/>
              <a:gd name="connsiteX12" fmla="*/ 1002866 w 1974741"/>
              <a:gd name="connsiteY12" fmla="*/ 1662596 h 1693609"/>
              <a:gd name="connsiteX13" fmla="*/ 586349 w 1974741"/>
              <a:gd name="connsiteY13" fmla="*/ 1662596 h 1693609"/>
              <a:gd name="connsiteX14" fmla="*/ 586349 w 1974741"/>
              <a:gd name="connsiteY14" fmla="*/ 1662596 h 1693609"/>
              <a:gd name="connsiteX15" fmla="*/ 504282 w 1974741"/>
              <a:gd name="connsiteY15" fmla="*/ 1662596 h 1693609"/>
              <a:gd name="connsiteX16" fmla="*/ 308670 w 1974741"/>
              <a:gd name="connsiteY16" fmla="*/ 1466984 h 1693609"/>
              <a:gd name="connsiteX17" fmla="*/ 308670 w 1974741"/>
              <a:gd name="connsiteY17" fmla="*/ 1466988 h 1693609"/>
              <a:gd name="connsiteX18" fmla="*/ 0 w 1974741"/>
              <a:gd name="connsiteY18" fmla="*/ 1693609 h 1693609"/>
              <a:gd name="connsiteX19" fmla="*/ 308670 w 1974741"/>
              <a:gd name="connsiteY19" fmla="*/ 1173577 h 1693609"/>
              <a:gd name="connsiteX20" fmla="*/ 308670 w 1974741"/>
              <a:gd name="connsiteY20" fmla="*/ 684562 h 1693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974741" h="1693609">
                <a:moveTo>
                  <a:pt x="308670" y="684562"/>
                </a:moveTo>
                <a:cubicBezTo>
                  <a:pt x="308670" y="576528"/>
                  <a:pt x="396248" y="488950"/>
                  <a:pt x="504282" y="488950"/>
                </a:cubicBezTo>
                <a:lnTo>
                  <a:pt x="586349" y="488950"/>
                </a:lnTo>
                <a:lnTo>
                  <a:pt x="465699" y="0"/>
                </a:lnTo>
                <a:lnTo>
                  <a:pt x="1002866" y="488950"/>
                </a:lnTo>
                <a:lnTo>
                  <a:pt x="1779129" y="488950"/>
                </a:lnTo>
                <a:cubicBezTo>
                  <a:pt x="1887163" y="488950"/>
                  <a:pt x="1974741" y="576528"/>
                  <a:pt x="1974741" y="684562"/>
                </a:cubicBezTo>
                <a:lnTo>
                  <a:pt x="1974741" y="1173577"/>
                </a:lnTo>
                <a:lnTo>
                  <a:pt x="1974741" y="1173577"/>
                </a:lnTo>
                <a:lnTo>
                  <a:pt x="1974741" y="1466988"/>
                </a:lnTo>
                <a:lnTo>
                  <a:pt x="1974741" y="1466984"/>
                </a:lnTo>
                <a:cubicBezTo>
                  <a:pt x="1974741" y="1575018"/>
                  <a:pt x="1887163" y="1662596"/>
                  <a:pt x="1779129" y="1662596"/>
                </a:cubicBezTo>
                <a:lnTo>
                  <a:pt x="1002866" y="1662596"/>
                </a:lnTo>
                <a:lnTo>
                  <a:pt x="586349" y="1662596"/>
                </a:lnTo>
                <a:lnTo>
                  <a:pt x="586349" y="1662596"/>
                </a:lnTo>
                <a:lnTo>
                  <a:pt x="504282" y="1662596"/>
                </a:lnTo>
                <a:cubicBezTo>
                  <a:pt x="396248" y="1662596"/>
                  <a:pt x="308670" y="1575018"/>
                  <a:pt x="308670" y="1466984"/>
                </a:cubicBezTo>
                <a:lnTo>
                  <a:pt x="308670" y="1466988"/>
                </a:lnTo>
                <a:lnTo>
                  <a:pt x="0" y="1693609"/>
                </a:lnTo>
                <a:lnTo>
                  <a:pt x="308670" y="1173577"/>
                </a:lnTo>
                <a:lnTo>
                  <a:pt x="308670" y="684562"/>
                </a:lnTo>
                <a:close/>
              </a:path>
            </a:pathLst>
          </a:cu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b="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FB2D5E8F-407A-442A-91AD-C963E078ECF0}"/>
              </a:ext>
            </a:extLst>
          </p:cNvPr>
          <p:cNvSpPr/>
          <p:nvPr/>
        </p:nvSpPr>
        <p:spPr>
          <a:xfrm>
            <a:off x="7584609" y="2673339"/>
            <a:ext cx="1382372" cy="88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Карточки электростанций и агрегатов с просмотром и сохранением параметров: </a:t>
            </a:r>
            <a:r>
              <a:rPr lang="ru-RU" sz="700" dirty="0">
                <a:latin typeface="+mn-lt"/>
                <a:ea typeface="Source Sans 3" pitchFamily="34" charset="-122"/>
              </a:rPr>
              <a:t>добавление, редактирование и удаление данных (в зависимости от роли пользователя)</a:t>
            </a:r>
          </a:p>
        </p:txBody>
      </p:sp>
      <p:sp>
        <p:nvSpPr>
          <p:cNvPr id="30" name="Стрелка: влево 29">
            <a:extLst>
              <a:ext uri="{FF2B5EF4-FFF2-40B4-BE49-F238E27FC236}">
                <a16:creationId xmlns:a16="http://schemas.microsoft.com/office/drawing/2014/main" id="{8B39C0E7-AB4D-4C19-8B84-A8F3939B5DDD}"/>
              </a:ext>
            </a:extLst>
          </p:cNvPr>
          <p:cNvSpPr/>
          <p:nvPr/>
        </p:nvSpPr>
        <p:spPr bwMode="auto">
          <a:xfrm rot="16200000">
            <a:off x="6490449" y="3447122"/>
            <a:ext cx="669755" cy="417610"/>
          </a:xfrm>
          <a:prstGeom prst="lef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80943820"/>
      </p:ext>
    </p:extLst>
  </p:cSld>
  <p:clrMapOvr>
    <a:masterClrMapping/>
  </p:clrMapOvr>
  <p:transition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BE686-FB31-4177-8BA6-590FA5F0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Генерация (Интерфейс) – 3</a:t>
            </a:r>
            <a:br>
              <a:rPr lang="ru-RU" dirty="0"/>
            </a:br>
            <a:r>
              <a:rPr lang="ru-RU" dirty="0"/>
              <a:t>перспективные АЭС, ГЭС, </a:t>
            </a:r>
            <a:r>
              <a:rPr lang="ru-RU" dirty="0" err="1"/>
              <a:t>ГАЭС</a:t>
            </a:r>
            <a:r>
              <a:rPr lang="ru-RU" dirty="0"/>
              <a:t> и ТЭС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E247D2-EEAD-470B-8568-B194B9F8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7</a:t>
            </a:r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3FABE4B-0FDF-4536-87CE-4B1E09788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757" y="936975"/>
            <a:ext cx="3982285" cy="1448348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773A5BF-A199-4AA3-9351-58B1A3E97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704" y="2247095"/>
            <a:ext cx="3124978" cy="2226679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3D16518-E642-4E97-BB55-998826C32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660" y="2777827"/>
            <a:ext cx="4329340" cy="2226679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12297DB-40F8-47BB-87CE-63FDE9DA7E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6039" y="1121799"/>
            <a:ext cx="4572272" cy="942636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C1156D-5F94-4570-9882-5EBBD89F68B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555"/>
          <a:stretch/>
        </p:blipFill>
        <p:spPr>
          <a:xfrm>
            <a:off x="145608" y="1051808"/>
            <a:ext cx="1511899" cy="1195287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6D4A553B-FB89-4AE3-B81A-BCE1789929E4}"/>
              </a:ext>
            </a:extLst>
          </p:cNvPr>
          <p:cNvSpPr/>
          <p:nvPr/>
        </p:nvSpPr>
        <p:spPr bwMode="auto">
          <a:xfrm>
            <a:off x="1684835" y="1473200"/>
            <a:ext cx="285593" cy="243163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EA7914AC-8FED-4224-9670-17516326E53B}"/>
              </a:ext>
            </a:extLst>
          </p:cNvPr>
          <p:cNvSpPr/>
          <p:nvPr/>
        </p:nvSpPr>
        <p:spPr bwMode="auto">
          <a:xfrm rot="5400000">
            <a:off x="580158" y="2377211"/>
            <a:ext cx="388013" cy="280466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9" name="Стрелка: вправо 18">
            <a:extLst>
              <a:ext uri="{FF2B5EF4-FFF2-40B4-BE49-F238E27FC236}">
                <a16:creationId xmlns:a16="http://schemas.microsoft.com/office/drawing/2014/main" id="{42FA6A28-D031-4EDD-B6DD-3F8A6126A82E}"/>
              </a:ext>
            </a:extLst>
          </p:cNvPr>
          <p:cNvSpPr/>
          <p:nvPr/>
        </p:nvSpPr>
        <p:spPr bwMode="auto">
          <a:xfrm rot="2752904">
            <a:off x="1397660" y="2056134"/>
            <a:ext cx="285593" cy="243163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29E4A56-B1D3-45EE-B493-B0A1547B8D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5256" y="1931111"/>
            <a:ext cx="4352406" cy="1033032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3" name="Облачко с текстом: прямоугольное со скругленными углами 12">
            <a:extLst>
              <a:ext uri="{FF2B5EF4-FFF2-40B4-BE49-F238E27FC236}">
                <a16:creationId xmlns:a16="http://schemas.microsoft.com/office/drawing/2014/main" id="{BF419B29-6C82-4369-A795-C4F0B9978041}"/>
              </a:ext>
            </a:extLst>
          </p:cNvPr>
          <p:cNvSpPr/>
          <p:nvPr/>
        </p:nvSpPr>
        <p:spPr bwMode="auto">
          <a:xfrm>
            <a:off x="5190064" y="4330480"/>
            <a:ext cx="3749568" cy="663697"/>
          </a:xfrm>
          <a:prstGeom prst="flowChartAlternateProcess">
            <a:avLst/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EB87712-C92E-4E7D-8DE8-72052EC07F22}"/>
              </a:ext>
            </a:extLst>
          </p:cNvPr>
          <p:cNvSpPr/>
          <p:nvPr/>
        </p:nvSpPr>
        <p:spPr>
          <a:xfrm>
            <a:off x="5214649" y="4385623"/>
            <a:ext cx="3750763" cy="553840"/>
          </a:xfrm>
          <a:prstGeom prst="flowChartAlternateProcess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Пересчет затрат перспективных ГЭС и </a:t>
            </a:r>
            <a:r>
              <a:rPr lang="ru-RU" sz="700" dirty="0" err="1">
                <a:latin typeface="+mn-lt"/>
                <a:ea typeface="Source Sans 3" pitchFamily="34" charset="-122"/>
                <a:cs typeface="Source Sans 3" pitchFamily="34" charset="-120"/>
              </a:rPr>
              <a:t>ГАЭС</a:t>
            </a: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 в цены целевого года при наличии годовых коэффициентов;</a:t>
            </a:r>
          </a:p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Расчет удельных капитальных вложений перспективных ГЭС и </a:t>
            </a:r>
            <a:r>
              <a:rPr lang="ru-RU" sz="700" dirty="0" err="1">
                <a:latin typeface="+mn-lt"/>
                <a:ea typeface="Source Sans 3" pitchFamily="34" charset="-122"/>
                <a:cs typeface="Source Sans 3" pitchFamily="34" charset="-120"/>
              </a:rPr>
              <a:t>ГАЭС</a:t>
            </a: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 на единицу УМ</a:t>
            </a:r>
          </a:p>
        </p:txBody>
      </p:sp>
      <p:sp>
        <p:nvSpPr>
          <p:cNvPr id="21" name="Стрелка: вправо 20">
            <a:extLst>
              <a:ext uri="{FF2B5EF4-FFF2-40B4-BE49-F238E27FC236}">
                <a16:creationId xmlns:a16="http://schemas.microsoft.com/office/drawing/2014/main" id="{49C475D2-DB3B-43FA-9791-99EEB09BE67F}"/>
              </a:ext>
            </a:extLst>
          </p:cNvPr>
          <p:cNvSpPr/>
          <p:nvPr/>
        </p:nvSpPr>
        <p:spPr bwMode="auto">
          <a:xfrm>
            <a:off x="4065913" y="1524123"/>
            <a:ext cx="285593" cy="243163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754ED7C-23CF-4CBF-BBE3-D4FBC15355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2420" y="2777827"/>
            <a:ext cx="4432992" cy="1385310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487092EF-8E55-41DD-9D3F-8A1FBABAF085}"/>
              </a:ext>
            </a:extLst>
          </p:cNvPr>
          <p:cNvSpPr/>
          <p:nvPr/>
        </p:nvSpPr>
        <p:spPr bwMode="auto">
          <a:xfrm>
            <a:off x="4242233" y="2466759"/>
            <a:ext cx="285593" cy="243163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3" name="Стрелка: вправо 22">
            <a:extLst>
              <a:ext uri="{FF2B5EF4-FFF2-40B4-BE49-F238E27FC236}">
                <a16:creationId xmlns:a16="http://schemas.microsoft.com/office/drawing/2014/main" id="{F8740B84-3E0D-4805-A2E5-14A3605F2E7E}"/>
              </a:ext>
            </a:extLst>
          </p:cNvPr>
          <p:cNvSpPr/>
          <p:nvPr/>
        </p:nvSpPr>
        <p:spPr bwMode="auto">
          <a:xfrm>
            <a:off x="4390783" y="3171378"/>
            <a:ext cx="285593" cy="243163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DAE52D-C315-479B-8F8E-FD9EC2AA8A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249" y="3561274"/>
            <a:ext cx="3494082" cy="1474621"/>
          </a:xfrm>
          <a:prstGeom prst="roundRect">
            <a:avLst>
              <a:gd name="adj" fmla="val 17959"/>
            </a:avLst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7A9CBADA-9DA9-41CD-9BE5-FE661754EA04}"/>
              </a:ext>
            </a:extLst>
          </p:cNvPr>
          <p:cNvSpPr/>
          <p:nvPr/>
        </p:nvSpPr>
        <p:spPr bwMode="auto">
          <a:xfrm>
            <a:off x="987130" y="3750933"/>
            <a:ext cx="638143" cy="280466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87093206"/>
      </p:ext>
    </p:extLst>
  </p:cSld>
  <p:clrMapOvr>
    <a:masterClrMapping/>
  </p:clrMapOvr>
  <p:transition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8DF66-5E27-4024-A159-96D29011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Генерация. Передача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099CA9-94EA-4F0B-8C79-A989F0E7C2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8</a:t>
            </a: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4EB339-7AF6-4B7E-B1B0-9D765FB691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55"/>
          <a:stretch/>
        </p:blipFill>
        <p:spPr>
          <a:xfrm>
            <a:off x="215431" y="920391"/>
            <a:ext cx="2572338" cy="2131505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8AF2BA0-A689-4C7E-BC25-A6EAAA425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3739331"/>
            <a:ext cx="2167118" cy="1055680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99A8C66-2BD6-4176-A47D-AB16FD19D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795" y="832669"/>
            <a:ext cx="2781273" cy="2399481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4EF14449-ED2A-4EE7-9FC1-F832D8A22D84}"/>
              </a:ext>
            </a:extLst>
          </p:cNvPr>
          <p:cNvSpPr/>
          <p:nvPr/>
        </p:nvSpPr>
        <p:spPr bwMode="auto">
          <a:xfrm>
            <a:off x="2984500" y="1600200"/>
            <a:ext cx="2501901" cy="330200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262E2D5-A6E2-4330-B1A7-F9D83A4FE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844" y="2393362"/>
            <a:ext cx="2711115" cy="2590800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DDC1057F-B0B1-4688-84E8-2B8042D9F766}"/>
              </a:ext>
            </a:extLst>
          </p:cNvPr>
          <p:cNvSpPr/>
          <p:nvPr/>
        </p:nvSpPr>
        <p:spPr bwMode="auto">
          <a:xfrm>
            <a:off x="2933701" y="2532831"/>
            <a:ext cx="670698" cy="330200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B192CB5B-D3CE-45FC-967B-32F93127DD71}"/>
              </a:ext>
            </a:extLst>
          </p:cNvPr>
          <p:cNvSpPr/>
          <p:nvPr/>
        </p:nvSpPr>
        <p:spPr bwMode="auto">
          <a:xfrm rot="5400000">
            <a:off x="1473881" y="3260210"/>
            <a:ext cx="571383" cy="330200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701701204"/>
      </p:ext>
    </p:extLst>
  </p:cSld>
  <p:clrMapOvr>
    <a:masterClrMapping/>
  </p:clrMapOvr>
  <p:transition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C36A3-849B-4FA2-8F40-319BA20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Балансы </a:t>
            </a:r>
            <a:r>
              <a:rPr lang="ru-RU" dirty="0" err="1"/>
              <a:t>ЭЭ</a:t>
            </a:r>
            <a:r>
              <a:rPr lang="ru-RU" dirty="0"/>
              <a:t> и ЭМ (интерфейс модуля) – 1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776C1-8FE3-45C5-8928-C8BCBB2B0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10</a:t>
            </a:r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DD8BB19-31CB-4A88-A40B-902491023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507" y="2050111"/>
            <a:ext cx="4434875" cy="2933537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0DB8013-D0C0-44A3-A0FD-B89B7EE9B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18" y="2571750"/>
            <a:ext cx="3493752" cy="2411898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14022C9-9DB3-4A86-9F7B-F00FDE6ED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99" y="1002481"/>
            <a:ext cx="1869995" cy="910941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5694EA0B-7370-42D5-B922-BE692B693B43}"/>
              </a:ext>
            </a:extLst>
          </p:cNvPr>
          <p:cNvSpPr/>
          <p:nvPr/>
        </p:nvSpPr>
        <p:spPr bwMode="auto">
          <a:xfrm rot="903391">
            <a:off x="2195319" y="1566381"/>
            <a:ext cx="2159648" cy="330200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C8AFDE59-A453-4BAD-9E5E-D402EA1DE297}"/>
              </a:ext>
            </a:extLst>
          </p:cNvPr>
          <p:cNvSpPr/>
          <p:nvPr/>
        </p:nvSpPr>
        <p:spPr bwMode="auto">
          <a:xfrm rot="5400000">
            <a:off x="1011292" y="2086036"/>
            <a:ext cx="501535" cy="330200"/>
          </a:xfrm>
          <a:prstGeom prst="rightArrow">
            <a:avLst/>
          </a:prstGeom>
          <a:solidFill>
            <a:srgbClr val="FCF0AA"/>
          </a:solidFill>
          <a:ln w="28575">
            <a:solidFill>
              <a:srgbClr val="AF9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4" name="Облачко с текстом: прямоугольное со скругленными углами 13">
            <a:extLst>
              <a:ext uri="{FF2B5EF4-FFF2-40B4-BE49-F238E27FC236}">
                <a16:creationId xmlns:a16="http://schemas.microsoft.com/office/drawing/2014/main" id="{DED2DBC5-7806-49CC-98BD-A185B3BD5EDA}"/>
              </a:ext>
            </a:extLst>
          </p:cNvPr>
          <p:cNvSpPr/>
          <p:nvPr/>
        </p:nvSpPr>
        <p:spPr bwMode="auto">
          <a:xfrm>
            <a:off x="1956046" y="2000368"/>
            <a:ext cx="1459725" cy="389662"/>
          </a:xfrm>
          <a:prstGeom prst="wedgeRoundRectCallout">
            <a:avLst>
              <a:gd name="adj1" fmla="val 29304"/>
              <a:gd name="adj2" fmla="val 93919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431DCA4D-A17B-4F6F-AB62-A74B19712F30}"/>
              </a:ext>
            </a:extLst>
          </p:cNvPr>
          <p:cNvSpPr/>
          <p:nvPr/>
        </p:nvSpPr>
        <p:spPr>
          <a:xfrm>
            <a:off x="2039152" y="2060646"/>
            <a:ext cx="1294070" cy="244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Выработка электрической энергии электростанциями</a:t>
            </a:r>
          </a:p>
        </p:txBody>
      </p:sp>
      <p:sp>
        <p:nvSpPr>
          <p:cNvPr id="19" name="Облачко с текстом: прямоугольное со скругленными углами 18">
            <a:extLst>
              <a:ext uri="{FF2B5EF4-FFF2-40B4-BE49-F238E27FC236}">
                <a16:creationId xmlns:a16="http://schemas.microsoft.com/office/drawing/2014/main" id="{98BEFE86-32C9-4D00-8043-C10DC58C5725}"/>
              </a:ext>
            </a:extLst>
          </p:cNvPr>
          <p:cNvSpPr/>
          <p:nvPr/>
        </p:nvSpPr>
        <p:spPr bwMode="auto">
          <a:xfrm>
            <a:off x="6092308" y="875314"/>
            <a:ext cx="1393635" cy="502812"/>
          </a:xfrm>
          <a:prstGeom prst="wedgeRoundRectCallout">
            <a:avLst>
              <a:gd name="adj1" fmla="val 57182"/>
              <a:gd name="adj2" fmla="val 180765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F369A284-66CA-4FAA-9CFF-7327D8632006}"/>
              </a:ext>
            </a:extLst>
          </p:cNvPr>
          <p:cNvSpPr/>
          <p:nvPr/>
        </p:nvSpPr>
        <p:spPr>
          <a:xfrm>
            <a:off x="6159579" y="937669"/>
            <a:ext cx="1259092" cy="37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  <a:cs typeface="Source Sans 3" pitchFamily="34" charset="-120"/>
              </a:rPr>
              <a:t>Межсистемные перетоки электрической энергии и мощности</a:t>
            </a:r>
          </a:p>
        </p:txBody>
      </p:sp>
      <p:sp>
        <p:nvSpPr>
          <p:cNvPr id="22" name="Облачко с текстом: прямоугольное со скругленными углами 21">
            <a:extLst>
              <a:ext uri="{FF2B5EF4-FFF2-40B4-BE49-F238E27FC236}">
                <a16:creationId xmlns:a16="http://schemas.microsoft.com/office/drawing/2014/main" id="{D8574B1B-C3E4-48D8-BACB-F98B1A2C34FB}"/>
              </a:ext>
            </a:extLst>
          </p:cNvPr>
          <p:cNvSpPr/>
          <p:nvPr/>
        </p:nvSpPr>
        <p:spPr bwMode="auto">
          <a:xfrm>
            <a:off x="4635967" y="937669"/>
            <a:ext cx="540535" cy="426703"/>
          </a:xfrm>
          <a:prstGeom prst="wedgeRoundRectCallout">
            <a:avLst>
              <a:gd name="adj1" fmla="val 115377"/>
              <a:gd name="adj2" fmla="val 274556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50656A5F-EA6E-4EDF-A264-AD5A1C49162F}"/>
              </a:ext>
            </a:extLst>
          </p:cNvPr>
          <p:cNvSpPr/>
          <p:nvPr/>
        </p:nvSpPr>
        <p:spPr>
          <a:xfrm>
            <a:off x="4705411" y="964815"/>
            <a:ext cx="471091" cy="37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</a:rPr>
              <a:t>Импорт и экспорт данных</a:t>
            </a:r>
            <a:endParaRPr lang="ru-RU" sz="700" dirty="0">
              <a:latin typeface="+mn-lt"/>
              <a:ea typeface="Source Sans 3" pitchFamily="34" charset="-122"/>
              <a:cs typeface="Source Sans 3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41099827"/>
      </p:ext>
    </p:extLst>
  </p:cSld>
  <p:clrMapOvr>
    <a:masterClrMapping/>
  </p:clrMapOvr>
  <p:transition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58A612-1A41-45EB-889F-68D996505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10" y="1229443"/>
            <a:ext cx="3519896" cy="3729907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C36A3-849B-4FA2-8F40-319BA20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Балансы </a:t>
            </a:r>
            <a:r>
              <a:rPr lang="ru-RU" dirty="0" err="1"/>
              <a:t>ЭЭ</a:t>
            </a:r>
            <a:r>
              <a:rPr lang="ru-RU" dirty="0"/>
              <a:t> и ЭМ (интерфейс модуля) – 2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776C1-8FE3-45C5-8928-C8BCBB2B0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11</a:t>
            </a:r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94C125D-DE5D-41B2-B646-4584B4293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817" y="1218085"/>
            <a:ext cx="4146534" cy="2983202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28" name="Облачко с текстом: прямоугольное со скругленными углами 27">
            <a:extLst>
              <a:ext uri="{FF2B5EF4-FFF2-40B4-BE49-F238E27FC236}">
                <a16:creationId xmlns:a16="http://schemas.microsoft.com/office/drawing/2014/main" id="{7E0A7008-E7A2-4933-87A6-5DAF936BBB8D}"/>
              </a:ext>
            </a:extLst>
          </p:cNvPr>
          <p:cNvSpPr/>
          <p:nvPr/>
        </p:nvSpPr>
        <p:spPr bwMode="auto">
          <a:xfrm>
            <a:off x="335790" y="867922"/>
            <a:ext cx="8135110" cy="248055"/>
          </a:xfrm>
          <a:prstGeom prst="flowChartAlternateProcess">
            <a:avLst/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D927B67C-D3CE-45EB-B28E-9EAE24972B9E}"/>
              </a:ext>
            </a:extLst>
          </p:cNvPr>
          <p:cNvSpPr/>
          <p:nvPr/>
        </p:nvSpPr>
        <p:spPr>
          <a:xfrm>
            <a:off x="502134" y="910055"/>
            <a:ext cx="7892070" cy="128404"/>
          </a:xfrm>
          <a:prstGeom prst="flowChartAlternateProcess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</a:rPr>
              <a:t>Сбор показателей из модулей Генерации, Спроса и Нагрузок и формирование балансов электрической энергии и мощности по уровням территориальной иерархии</a:t>
            </a:r>
            <a:endParaRPr lang="ru-RU" sz="700" dirty="0">
              <a:latin typeface="+mn-lt"/>
              <a:ea typeface="Source Sans 3" pitchFamily="34" charset="-122"/>
              <a:cs typeface="Source Sans 3" pitchFamily="34" charset="-120"/>
            </a:endParaRPr>
          </a:p>
        </p:txBody>
      </p:sp>
      <p:sp>
        <p:nvSpPr>
          <p:cNvPr id="31" name="Облачко с текстом: прямоугольное со скругленными углами 30">
            <a:extLst>
              <a:ext uri="{FF2B5EF4-FFF2-40B4-BE49-F238E27FC236}">
                <a16:creationId xmlns:a16="http://schemas.microsoft.com/office/drawing/2014/main" id="{C5E17264-1A9A-494B-B623-9CB527A4A93E}"/>
              </a:ext>
            </a:extLst>
          </p:cNvPr>
          <p:cNvSpPr/>
          <p:nvPr/>
        </p:nvSpPr>
        <p:spPr bwMode="auto">
          <a:xfrm>
            <a:off x="7385298" y="2813802"/>
            <a:ext cx="1678965" cy="357552"/>
          </a:xfrm>
          <a:prstGeom prst="wedgeRoundRectCallout">
            <a:avLst>
              <a:gd name="adj1" fmla="val -92766"/>
              <a:gd name="adj2" fmla="val -134188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9C9EC690-8C46-4014-B44E-1DFE99A01A34}"/>
              </a:ext>
            </a:extLst>
          </p:cNvPr>
          <p:cNvSpPr/>
          <p:nvPr/>
        </p:nvSpPr>
        <p:spPr>
          <a:xfrm>
            <a:off x="7405538" y="2847142"/>
            <a:ext cx="1658725" cy="244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</a:rPr>
              <a:t>Формирование годовой выработки по имеющимся месячным данным</a:t>
            </a:r>
            <a:endParaRPr lang="ru-RU" sz="700" dirty="0">
              <a:latin typeface="+mn-lt"/>
              <a:ea typeface="Source Sans 3" pitchFamily="34" charset="-122"/>
              <a:cs typeface="Source Sans 3" pitchFamily="34" charset="-120"/>
            </a:endParaRPr>
          </a:p>
        </p:txBody>
      </p:sp>
      <p:sp>
        <p:nvSpPr>
          <p:cNvPr id="34" name="Облачко с текстом: прямоугольное со скругленными углами 33">
            <a:extLst>
              <a:ext uri="{FF2B5EF4-FFF2-40B4-BE49-F238E27FC236}">
                <a16:creationId xmlns:a16="http://schemas.microsoft.com/office/drawing/2014/main" id="{C922407E-1C16-4170-B7F8-ED05E704F6E1}"/>
              </a:ext>
            </a:extLst>
          </p:cNvPr>
          <p:cNvSpPr/>
          <p:nvPr/>
        </p:nvSpPr>
        <p:spPr bwMode="auto">
          <a:xfrm>
            <a:off x="4056086" y="4303395"/>
            <a:ext cx="1770412" cy="695867"/>
          </a:xfrm>
          <a:prstGeom prst="wedgeRoundRectCallout">
            <a:avLst>
              <a:gd name="adj1" fmla="val -78427"/>
              <a:gd name="adj2" fmla="val 21273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CB60E2F8-45C7-45E3-8404-5EA7F930D203}"/>
              </a:ext>
            </a:extLst>
          </p:cNvPr>
          <p:cNvSpPr/>
          <p:nvPr/>
        </p:nvSpPr>
        <p:spPr>
          <a:xfrm>
            <a:off x="4133244" y="4330351"/>
            <a:ext cx="1658725" cy="628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</a:rPr>
              <a:t>Расчет покрытия и определение дефицита или избытка электрической энергии и мощности с учетом выработки, а также экспорта и перетоков</a:t>
            </a:r>
          </a:p>
        </p:txBody>
      </p:sp>
      <p:sp>
        <p:nvSpPr>
          <p:cNvPr id="37" name="Облачко с текстом: прямоугольное со скругленными углами 36">
            <a:extLst>
              <a:ext uri="{FF2B5EF4-FFF2-40B4-BE49-F238E27FC236}">
                <a16:creationId xmlns:a16="http://schemas.microsoft.com/office/drawing/2014/main" id="{2789617A-3E53-4F9C-9741-B87ACE91666B}"/>
              </a:ext>
            </a:extLst>
          </p:cNvPr>
          <p:cNvSpPr/>
          <p:nvPr/>
        </p:nvSpPr>
        <p:spPr bwMode="auto">
          <a:xfrm>
            <a:off x="2913121" y="2188502"/>
            <a:ext cx="1532745" cy="383248"/>
          </a:xfrm>
          <a:prstGeom prst="wedgeRoundRectCallout">
            <a:avLst>
              <a:gd name="adj1" fmla="val -54226"/>
              <a:gd name="adj2" fmla="val -245826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3FA7029F-E1A7-42D3-9754-082A4F386E34}"/>
              </a:ext>
            </a:extLst>
          </p:cNvPr>
          <p:cNvSpPr/>
          <p:nvPr/>
        </p:nvSpPr>
        <p:spPr>
          <a:xfrm>
            <a:off x="2989530" y="2251659"/>
            <a:ext cx="1416387" cy="244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</a:rPr>
              <a:t>Поиск, фильтрация и выбор периода отображения данных</a:t>
            </a:r>
          </a:p>
        </p:txBody>
      </p:sp>
      <p:sp>
        <p:nvSpPr>
          <p:cNvPr id="40" name="Облачко с текстом: прямоугольное со скругленными углами 39">
            <a:extLst>
              <a:ext uri="{FF2B5EF4-FFF2-40B4-BE49-F238E27FC236}">
                <a16:creationId xmlns:a16="http://schemas.microsoft.com/office/drawing/2014/main" id="{A1F8DB3C-1763-44E8-9C4B-1431DA958D83}"/>
              </a:ext>
            </a:extLst>
          </p:cNvPr>
          <p:cNvSpPr/>
          <p:nvPr/>
        </p:nvSpPr>
        <p:spPr bwMode="auto">
          <a:xfrm>
            <a:off x="6139178" y="2213123"/>
            <a:ext cx="845812" cy="187320"/>
          </a:xfrm>
          <a:prstGeom prst="wedgeRoundRectCallout">
            <a:avLst>
              <a:gd name="adj1" fmla="val 50859"/>
              <a:gd name="adj2" fmla="val -203102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F99E946F-1D6E-4D49-980D-459289743BBE}"/>
              </a:ext>
            </a:extLst>
          </p:cNvPr>
          <p:cNvSpPr/>
          <p:nvPr/>
        </p:nvSpPr>
        <p:spPr>
          <a:xfrm>
            <a:off x="6195395" y="2241260"/>
            <a:ext cx="789595" cy="11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</a:rPr>
              <a:t>Экспорт данных</a:t>
            </a:r>
          </a:p>
        </p:txBody>
      </p:sp>
      <p:sp>
        <p:nvSpPr>
          <p:cNvPr id="43" name="Облачко с текстом: прямоугольное со скругленными углами 42">
            <a:extLst>
              <a:ext uri="{FF2B5EF4-FFF2-40B4-BE49-F238E27FC236}">
                <a16:creationId xmlns:a16="http://schemas.microsoft.com/office/drawing/2014/main" id="{8645E4A1-6DFD-461A-B865-6D47272211BD}"/>
              </a:ext>
            </a:extLst>
          </p:cNvPr>
          <p:cNvSpPr/>
          <p:nvPr/>
        </p:nvSpPr>
        <p:spPr bwMode="auto">
          <a:xfrm>
            <a:off x="8067772" y="2153761"/>
            <a:ext cx="1070293" cy="310030"/>
          </a:xfrm>
          <a:prstGeom prst="wedgeRoundRectCallout">
            <a:avLst>
              <a:gd name="adj1" fmla="val -20558"/>
              <a:gd name="adj2" fmla="val -135238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B6310E3C-47EE-4350-B633-1052D5A83A1D}"/>
              </a:ext>
            </a:extLst>
          </p:cNvPr>
          <p:cNvSpPr/>
          <p:nvPr/>
        </p:nvSpPr>
        <p:spPr>
          <a:xfrm>
            <a:off x="8092928" y="2185979"/>
            <a:ext cx="1110002" cy="244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</a:rPr>
              <a:t>Настройка округления показателей</a:t>
            </a:r>
          </a:p>
        </p:txBody>
      </p:sp>
      <p:sp>
        <p:nvSpPr>
          <p:cNvPr id="46" name="Облачко с текстом: прямоугольное со скругленными углами 45">
            <a:extLst>
              <a:ext uri="{FF2B5EF4-FFF2-40B4-BE49-F238E27FC236}">
                <a16:creationId xmlns:a16="http://schemas.microsoft.com/office/drawing/2014/main" id="{0D0672C1-8840-4A7D-996A-B1D195FEC352}"/>
              </a:ext>
            </a:extLst>
          </p:cNvPr>
          <p:cNvSpPr/>
          <p:nvPr/>
        </p:nvSpPr>
        <p:spPr bwMode="auto">
          <a:xfrm>
            <a:off x="6409047" y="4462560"/>
            <a:ext cx="1658725" cy="496553"/>
          </a:xfrm>
          <a:prstGeom prst="wedgeRoundRectCallout">
            <a:avLst>
              <a:gd name="adj1" fmla="val 57385"/>
              <a:gd name="adj2" fmla="val -210854"/>
              <a:gd name="adj3" fmla="val 16667"/>
            </a:avLst>
          </a:prstGeom>
          <a:solidFill>
            <a:srgbClr val="82AEDE"/>
          </a:solidFill>
          <a:ln w="19050">
            <a:solidFill>
              <a:srgbClr val="006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7E602209-A276-4078-9B0C-9348312FACF6}"/>
              </a:ext>
            </a:extLst>
          </p:cNvPr>
          <p:cNvSpPr/>
          <p:nvPr/>
        </p:nvSpPr>
        <p:spPr>
          <a:xfrm>
            <a:off x="6462946" y="4523456"/>
            <a:ext cx="1536590" cy="37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700" dirty="0">
                <a:latin typeface="+mn-lt"/>
                <a:ea typeface="Source Sans 3" pitchFamily="34" charset="-122"/>
              </a:rPr>
              <a:t>Добавление, редактирование и удаление данных (в зависимости от роли пользователя)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00955223"/>
      </p:ext>
    </p:extLst>
  </p:cSld>
  <p:clrMapOvr>
    <a:masterClrMapping/>
  </p:clrMapOvr>
  <p:transition>
    <p:split orient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D27AD1-E6A4-463A-878D-489C416A4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12</a:t>
            </a:r>
            <a:endParaRPr lang="ru-RU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A6421382-D342-4B42-B94F-20384894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68892"/>
            <a:ext cx="7617669" cy="763777"/>
          </a:xfrm>
        </p:spPr>
        <p:txBody>
          <a:bodyPr/>
          <a:lstStyle/>
          <a:p>
            <a:r>
              <a:rPr lang="ru-RU" dirty="0"/>
              <a:t>Модуль Балансы </a:t>
            </a:r>
            <a:r>
              <a:rPr lang="ru-RU" dirty="0" err="1"/>
              <a:t>ЭЭ</a:t>
            </a:r>
            <a:r>
              <a:rPr lang="ru-RU" dirty="0"/>
              <a:t> и ЭМ (возможности)</a:t>
            </a:r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127C04BB-CD76-43B6-85E6-DB4EE4F4E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1387593"/>
            <a:ext cx="2674979" cy="1303077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9C30BDB9-6200-4F69-B1B6-A178225AE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1054508"/>
            <a:ext cx="3586299" cy="3093999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62" name="Стрелка: вправо 61">
            <a:extLst>
              <a:ext uri="{FF2B5EF4-FFF2-40B4-BE49-F238E27FC236}">
                <a16:creationId xmlns:a16="http://schemas.microsoft.com/office/drawing/2014/main" id="{9930B8DC-DA92-43CC-BCCF-2AE419E8BE2A}"/>
              </a:ext>
            </a:extLst>
          </p:cNvPr>
          <p:cNvSpPr/>
          <p:nvPr/>
        </p:nvSpPr>
        <p:spPr bwMode="auto">
          <a:xfrm>
            <a:off x="3321049" y="1874031"/>
            <a:ext cx="1631951" cy="330200"/>
          </a:xfrm>
          <a:prstGeom prst="rightArrow">
            <a:avLst/>
          </a:prstGeom>
          <a:solidFill>
            <a:srgbClr val="E8E1D0"/>
          </a:solidFill>
          <a:ln w="9525">
            <a:solidFill>
              <a:srgbClr val="A88C5E"/>
            </a:solidFill>
            <a:prstDash val="soli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buClr>
                <a:srgbClr val="2A4E9E"/>
              </a:buClr>
              <a:buSzPct val="100000"/>
            </a:pPr>
            <a:endParaRPr lang="ru-RU" sz="1100" dirty="0">
              <a:latin typeface="Century Gothic" panose="020B0502020202020204" pitchFamily="34" charset="0"/>
            </a:endParaRPr>
          </a:p>
        </p:txBody>
      </p:sp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88A75562-BB3A-4B30-96A4-B38BE7417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" y="3375082"/>
            <a:ext cx="4310939" cy="1597357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64" name="Стрелка: вправо 63">
            <a:extLst>
              <a:ext uri="{FF2B5EF4-FFF2-40B4-BE49-F238E27FC236}">
                <a16:creationId xmlns:a16="http://schemas.microsoft.com/office/drawing/2014/main" id="{6C2CADA8-51BA-44D5-BF11-A56E8337D267}"/>
              </a:ext>
            </a:extLst>
          </p:cNvPr>
          <p:cNvSpPr/>
          <p:nvPr/>
        </p:nvSpPr>
        <p:spPr bwMode="auto">
          <a:xfrm rot="5400000">
            <a:off x="1631519" y="2867776"/>
            <a:ext cx="559823" cy="330200"/>
          </a:xfrm>
          <a:prstGeom prst="rightArrow">
            <a:avLst/>
          </a:prstGeom>
          <a:solidFill>
            <a:srgbClr val="E8E1D0"/>
          </a:solidFill>
          <a:ln w="9525">
            <a:solidFill>
              <a:srgbClr val="A88C5E"/>
            </a:solidFill>
            <a:prstDash val="soli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buClr>
                <a:srgbClr val="2A4E9E"/>
              </a:buClr>
              <a:buSzPct val="100000"/>
            </a:pPr>
            <a:endParaRPr lang="ru-RU" sz="1100" dirty="0">
              <a:latin typeface="Century Gothic" panose="020B0502020202020204" pitchFamily="34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465747648"/>
      </p:ext>
    </p:extLst>
  </p:cSld>
  <p:clrMapOvr>
    <a:masterClrMapping/>
  </p:clrMapOvr>
  <p:transition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C36A3-849B-4FA2-8F40-319BA20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Топливо (интерфейс) – 1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776C1-8FE3-45C5-8928-C8BCBB2B0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13</a:t>
            </a: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E36D51-05AE-4720-977A-401624724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7" y="628358"/>
            <a:ext cx="2945743" cy="2181833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382FDA-2323-437F-AF10-A21C94E65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141" y="905979"/>
            <a:ext cx="5667104" cy="2900112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AEB0D46-857C-4A03-9E6B-C2E9C9527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239" y="2797232"/>
            <a:ext cx="6418006" cy="2164336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2F269CE-7B41-48BB-A55E-082E72165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880" y="2789540"/>
            <a:ext cx="5308600" cy="2230386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6" name="Rectangle 15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27694338"/>
      </p:ext>
    </p:extLst>
  </p:cSld>
  <p:clrMapOvr>
    <a:masterClrMapping/>
  </p:clrMapOvr>
  <p:transition>
    <p:split orient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99EBC64-49AD-4C9F-80EA-D40DA417C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2" y="732477"/>
            <a:ext cx="5911177" cy="2625866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C36A3-849B-4FA2-8F40-319BA20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Топливо (интерфейс) – 2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776C1-8FE3-45C5-8928-C8BCBB2B0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14</a:t>
            </a:r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30FA45E-FDA6-4DE2-B19C-260B34D47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2472224"/>
            <a:ext cx="7066087" cy="2445053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A2194C-3F69-4498-B388-69CA3B09A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804" y="118134"/>
            <a:ext cx="1779797" cy="1318248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9" name="Rectangle 18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19151098"/>
      </p:ext>
    </p:extLst>
  </p:cSld>
  <p:clrMapOvr>
    <a:masterClrMapping/>
  </p:clrMapOvr>
  <p:transition>
    <p:split orient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D27AD1-E6A4-463A-878D-489C416A4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15</a:t>
            </a:r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C7BC29-D8FF-4C40-A276-240CFF28750D}"/>
              </a:ext>
            </a:extLst>
          </p:cNvPr>
          <p:cNvGrpSpPr/>
          <p:nvPr/>
        </p:nvGrpSpPr>
        <p:grpSpPr>
          <a:xfrm>
            <a:off x="476246" y="874686"/>
            <a:ext cx="8209981" cy="3741764"/>
            <a:chOff x="476246" y="938186"/>
            <a:chExt cx="8209981" cy="3741764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55C31640-1515-405D-97F9-A7DAF71AC5FF}"/>
                </a:ext>
              </a:extLst>
            </p:cNvPr>
            <p:cNvGrpSpPr/>
            <p:nvPr/>
          </p:nvGrpSpPr>
          <p:grpSpPr>
            <a:xfrm>
              <a:off x="476246" y="938186"/>
              <a:ext cx="8209981" cy="3741764"/>
              <a:chOff x="692147" y="938186"/>
              <a:chExt cx="7759708" cy="3741764"/>
            </a:xfrm>
          </p:grpSpPr>
          <p:sp>
            <p:nvSpPr>
              <p:cNvPr id="6" name="Блок-схема: ссылка на другую страницу 5">
                <a:extLst>
                  <a:ext uri="{FF2B5EF4-FFF2-40B4-BE49-F238E27FC236}">
                    <a16:creationId xmlns:a16="http://schemas.microsoft.com/office/drawing/2014/main" id="{B52B260C-445C-443E-8ED8-17C7D0E6ADC8}"/>
                  </a:ext>
                </a:extLst>
              </p:cNvPr>
              <p:cNvSpPr/>
              <p:nvPr/>
            </p:nvSpPr>
            <p:spPr bwMode="auto">
              <a:xfrm>
                <a:off x="692151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" name="Блок-схема: ссылка на другую страницу 6">
                <a:extLst>
                  <a:ext uri="{FF2B5EF4-FFF2-40B4-BE49-F238E27FC236}">
                    <a16:creationId xmlns:a16="http://schemas.microsoft.com/office/drawing/2014/main" id="{771AA611-25FC-4466-A78B-414564ADF528}"/>
                  </a:ext>
                </a:extLst>
              </p:cNvPr>
              <p:cNvSpPr/>
              <p:nvPr/>
            </p:nvSpPr>
            <p:spPr bwMode="auto">
              <a:xfrm>
                <a:off x="5673577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5" name="Блок-схема: ссылка на другую страницу 4">
                <a:extLst>
                  <a:ext uri="{FF2B5EF4-FFF2-40B4-BE49-F238E27FC236}">
                    <a16:creationId xmlns:a16="http://schemas.microsoft.com/office/drawing/2014/main" id="{4C7C4B50-AA60-4C80-AB01-A791B5914D61}"/>
                  </a:ext>
                </a:extLst>
              </p:cNvPr>
              <p:cNvSpPr/>
              <p:nvPr/>
            </p:nvSpPr>
            <p:spPr bwMode="auto">
              <a:xfrm>
                <a:off x="3182864" y="1301750"/>
                <a:ext cx="2778273" cy="337820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Блок-схема: ручное управление 7">
                <a:extLst>
                  <a:ext uri="{FF2B5EF4-FFF2-40B4-BE49-F238E27FC236}">
                    <a16:creationId xmlns:a16="http://schemas.microsoft.com/office/drawing/2014/main" id="{D0E7F5DB-F63F-4B3F-BDC3-D012DCCAACCE}"/>
                  </a:ext>
                </a:extLst>
              </p:cNvPr>
              <p:cNvSpPr/>
              <p:nvPr/>
            </p:nvSpPr>
            <p:spPr bwMode="auto">
              <a:xfrm flipV="1">
                <a:off x="3182863" y="938186"/>
                <a:ext cx="2778272" cy="363564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2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80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9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9935"/>
                  <a:gd name="connsiteX1" fmla="*/ 10000 w 10000"/>
                  <a:gd name="connsiteY1" fmla="*/ 0 h 9935"/>
                  <a:gd name="connsiteX2" fmla="*/ 6809 w 10000"/>
                  <a:gd name="connsiteY2" fmla="*/ 9870 h 9935"/>
                  <a:gd name="connsiteX3" fmla="*/ 3191 w 10000"/>
                  <a:gd name="connsiteY3" fmla="*/ 9935 h 9935"/>
                  <a:gd name="connsiteX4" fmla="*/ 0 w 10000"/>
                  <a:gd name="connsiteY4" fmla="*/ 0 h 9935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0 w 10000"/>
                  <a:gd name="connsiteY2" fmla="*/ 10000 h 10000"/>
                  <a:gd name="connsiteX3" fmla="*/ 3191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6800" y="10000"/>
                    </a:lnTo>
                    <a:lnTo>
                      <a:pt x="3191" y="1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Блок-схема: ручное управление 8">
                <a:extLst>
                  <a:ext uri="{FF2B5EF4-FFF2-40B4-BE49-F238E27FC236}">
                    <a16:creationId xmlns:a16="http://schemas.microsoft.com/office/drawing/2014/main" id="{269E3B35-165C-4A4B-8D8A-DE272498CF24}"/>
                  </a:ext>
                </a:extLst>
              </p:cNvPr>
              <p:cNvSpPr/>
              <p:nvPr/>
            </p:nvSpPr>
            <p:spPr bwMode="auto">
              <a:xfrm flipH="1" flipV="1">
                <a:off x="692147" y="939165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Блок-схема: ручное управление 8">
                <a:extLst>
                  <a:ext uri="{FF2B5EF4-FFF2-40B4-BE49-F238E27FC236}">
                    <a16:creationId xmlns:a16="http://schemas.microsoft.com/office/drawing/2014/main" id="{4A0A0EF4-2217-4962-8D37-6039794B9F26}"/>
                  </a:ext>
                </a:extLst>
              </p:cNvPr>
              <p:cNvSpPr/>
              <p:nvPr/>
            </p:nvSpPr>
            <p:spPr bwMode="auto">
              <a:xfrm flipV="1">
                <a:off x="5071661" y="938933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C3DDA8D7-AE49-4298-B9ED-F9ACF7B1077F}"/>
                </a:ext>
              </a:extLst>
            </p:cNvPr>
            <p:cNvSpPr/>
            <p:nvPr/>
          </p:nvSpPr>
          <p:spPr>
            <a:xfrm>
              <a:off x="902112" y="1395146"/>
              <a:ext cx="1783519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Информационная база</a:t>
              </a:r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C579A364-4291-46BA-934C-A79D5F453C53}"/>
                </a:ext>
              </a:extLst>
            </p:cNvPr>
            <p:cNvSpPr/>
            <p:nvPr/>
          </p:nvSpPr>
          <p:spPr>
            <a:xfrm>
              <a:off x="3534827" y="1395146"/>
              <a:ext cx="2092818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Расчетно-аналитический слой</a:t>
              </a: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C00E4CD4-7DD7-4ACB-A3AA-549B74C013B1}"/>
                </a:ext>
              </a:extLst>
            </p:cNvPr>
            <p:cNvSpPr/>
            <p:nvPr/>
          </p:nvSpPr>
          <p:spPr>
            <a:xfrm>
              <a:off x="6477661" y="1391922"/>
              <a:ext cx="1911264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Пользовательские функции</a:t>
              </a:r>
            </a:p>
          </p:txBody>
        </p:sp>
      </p:grpSp>
      <p:sp>
        <p:nvSpPr>
          <p:cNvPr id="15" name="Text 3">
            <a:extLst>
              <a:ext uri="{FF2B5EF4-FFF2-40B4-BE49-F238E27FC236}">
                <a16:creationId xmlns:a16="http://schemas.microsoft.com/office/drawing/2014/main" id="{BF44771E-24BD-4703-B215-55B1D874AB23}"/>
              </a:ext>
            </a:extLst>
          </p:cNvPr>
          <p:cNvSpPr/>
          <p:nvPr/>
        </p:nvSpPr>
        <p:spPr>
          <a:xfrm>
            <a:off x="614807" y="1599790"/>
            <a:ext cx="2496680" cy="236261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состав и характеристики групп оборудования, включая котельные, по которым доступны исходные данные;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установленная и располагаемая электрические мощности;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выработка и отпуск электрической энергии;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отпуск тепловой энергии и параметры теплофикационных отборов турбин;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расход топлива на производство электрической и тепловой энергии;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структура и калорийные эквиваленты используемого топлива;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объем и стоимость сожженного топлива;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удельные топливные и технико-экономические показатели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0FABB67-1FC3-4A65-A168-B459711815C5}"/>
              </a:ext>
            </a:extLst>
          </p:cNvPr>
          <p:cNvSpPr/>
          <p:nvPr/>
        </p:nvSpPr>
        <p:spPr>
          <a:xfrm>
            <a:off x="3307788" y="1599791"/>
            <a:ext cx="2579642" cy="14164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перспективных показателей работы ТЭС;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распределение выработки электрической энергии между группами оборудования;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расхода топлива на производство электрической и тепловой энергии;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распределение расхода топлива по видам;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удельной цены топлива, удельных расходов топлива,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СН</a:t>
            </a:r>
            <a:r>
              <a:rPr lang="ru-RU" sz="800" b="0" dirty="0">
                <a:latin typeface="+mn-lt"/>
                <a:ea typeface="Source Sans 3" pitchFamily="34" charset="-122"/>
              </a:rPr>
              <a:t> и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ЧЧИУМ</a:t>
            </a:r>
            <a:endParaRPr lang="ru-RU" sz="800" b="0" dirty="0">
              <a:latin typeface="+mn-lt"/>
              <a:ea typeface="Source Sans 3" pitchFamily="34" charset="-122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656B010-1BBF-44E8-9E43-F4CD3243AD84}"/>
              </a:ext>
            </a:extLst>
          </p:cNvPr>
          <p:cNvSpPr/>
          <p:nvPr/>
        </p:nvSpPr>
        <p:spPr>
          <a:xfrm>
            <a:off x="6170068" y="1599791"/>
            <a:ext cx="2440531" cy="20895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поиск, фильтрация и выбор периода отображения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импорт и экспорт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сопоставление данных с модулем Генерация;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ведение состава групп оборудования и турбин;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проверка полноты связей и выявление расхождений в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поясняющих текстов формул;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округления показателей;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добавление, редактирование и удаление данных (в зависимости от роли пользователя)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endParaRPr lang="ru-RU" sz="800" b="0" dirty="0">
              <a:latin typeface="+mn-lt"/>
              <a:ea typeface="Source Sans 3" pitchFamily="34" charset="-122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436247B9-5E17-45EB-A82A-1637B623B4D6}"/>
              </a:ext>
            </a:extLst>
          </p:cNvPr>
          <p:cNvSpPr/>
          <p:nvPr/>
        </p:nvSpPr>
        <p:spPr>
          <a:xfrm>
            <a:off x="5200650" y="4551362"/>
            <a:ext cx="3809428" cy="444815"/>
          </a:xfrm>
          <a:prstGeom prst="roundRect">
            <a:avLst>
              <a:gd name="adj" fmla="val 7462"/>
            </a:avLst>
          </a:prstGeom>
          <a:solidFill>
            <a:srgbClr val="FDF6CF"/>
          </a:solidFill>
          <a:ln w="9525">
            <a:solidFill>
              <a:srgbClr val="EECC00"/>
            </a:solidFill>
            <a:prstDash val="solid"/>
          </a:ln>
          <a:effectLst/>
        </p:spPr>
        <p:txBody>
          <a:bodyPr anchor="ctr" anchorCtr="0">
            <a:noAutofit/>
          </a:bodyPr>
          <a:lstStyle/>
          <a:p>
            <a:endParaRPr lang="ru-RU" sz="800" b="0" dirty="0">
              <a:latin typeface="+mn-lt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BDDB744-03BB-4F26-82FA-71A4610EA10E}"/>
              </a:ext>
            </a:extLst>
          </p:cNvPr>
          <p:cNvSpPr/>
          <p:nvPr/>
        </p:nvSpPr>
        <p:spPr>
          <a:xfrm>
            <a:off x="5761656" y="4612683"/>
            <a:ext cx="3178174" cy="32318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 anchorCtr="0">
            <a:noAutofit/>
          </a:bodyPr>
          <a:lstStyle/>
          <a:p>
            <a:pPr>
              <a:lnSpc>
                <a:spcPct val="119000"/>
              </a:lnSpc>
            </a:pPr>
            <a:r>
              <a:rPr lang="ru-RU" sz="800" b="0" dirty="0">
                <a:latin typeface="+mn-lt"/>
                <a:ea typeface="Source Sans 3" pitchFamily="34" charset="-122"/>
              </a:rPr>
              <a:t>Передача данных в модули «Балансы», «Экология» и «Рациональная структура» (конец 2026)</a:t>
            </a: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10DB696E-8B8C-4C76-B3B6-626D2E70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2835" y="4660712"/>
            <a:ext cx="268669" cy="268675"/>
          </a:xfrm>
          <a:prstGeom prst="rect">
            <a:avLst/>
          </a:prstGeom>
          <a:effectLst/>
        </p:spPr>
      </p:pic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A6421382-D342-4B42-B94F-20384894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68892"/>
            <a:ext cx="7617669" cy="763777"/>
          </a:xfrm>
        </p:spPr>
        <p:txBody>
          <a:bodyPr/>
          <a:lstStyle/>
          <a:p>
            <a:r>
              <a:rPr lang="ru-RU" dirty="0"/>
              <a:t>Модуль Топливо(возможности)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35345314"/>
      </p:ext>
    </p:extLst>
  </p:cSld>
  <p:clrMapOvr>
    <a:masterClrMapping/>
  </p:clrMapOvr>
  <p:transition>
    <p:split orient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C36A3-849B-4FA2-8F40-319BA20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Экология (интерфейс)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776C1-8FE3-45C5-8928-C8BCBB2B0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17</a:t>
            </a:r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FD675E-A5A6-4062-B1DD-69530E635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132" y="854902"/>
            <a:ext cx="6149381" cy="1789216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5C369A8-68A0-40C3-A0A0-9F70373FA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637" y="2387277"/>
            <a:ext cx="5619766" cy="1568931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3171C14-A3CA-4170-AAF5-7EEC78D42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67" y="3318258"/>
            <a:ext cx="7181354" cy="1719884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96F1C8-F67A-4087-915F-C13F1E03E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67" y="1221703"/>
            <a:ext cx="2882808" cy="1950039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354742118"/>
      </p:ext>
    </p:extLst>
  </p:cSld>
  <p:clrMapOvr>
    <a:masterClrMapping/>
  </p:clrMapOvr>
  <p:transition>
    <p:split orient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D27AD1-E6A4-463A-878D-489C416A4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18</a:t>
            </a:r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C7BC29-D8FF-4C40-A276-240CFF28750D}"/>
              </a:ext>
            </a:extLst>
          </p:cNvPr>
          <p:cNvGrpSpPr/>
          <p:nvPr/>
        </p:nvGrpSpPr>
        <p:grpSpPr>
          <a:xfrm>
            <a:off x="476246" y="874686"/>
            <a:ext cx="8209981" cy="3741764"/>
            <a:chOff x="476246" y="938186"/>
            <a:chExt cx="8209981" cy="3741764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55C31640-1515-405D-97F9-A7DAF71AC5FF}"/>
                </a:ext>
              </a:extLst>
            </p:cNvPr>
            <p:cNvGrpSpPr/>
            <p:nvPr/>
          </p:nvGrpSpPr>
          <p:grpSpPr>
            <a:xfrm>
              <a:off x="476246" y="938186"/>
              <a:ext cx="8209981" cy="3741764"/>
              <a:chOff x="692147" y="938186"/>
              <a:chExt cx="7759708" cy="3741764"/>
            </a:xfrm>
          </p:grpSpPr>
          <p:sp>
            <p:nvSpPr>
              <p:cNvPr id="6" name="Блок-схема: ссылка на другую страницу 5">
                <a:extLst>
                  <a:ext uri="{FF2B5EF4-FFF2-40B4-BE49-F238E27FC236}">
                    <a16:creationId xmlns:a16="http://schemas.microsoft.com/office/drawing/2014/main" id="{B52B260C-445C-443E-8ED8-17C7D0E6ADC8}"/>
                  </a:ext>
                </a:extLst>
              </p:cNvPr>
              <p:cNvSpPr/>
              <p:nvPr/>
            </p:nvSpPr>
            <p:spPr bwMode="auto">
              <a:xfrm>
                <a:off x="692151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" name="Блок-схема: ссылка на другую страницу 6">
                <a:extLst>
                  <a:ext uri="{FF2B5EF4-FFF2-40B4-BE49-F238E27FC236}">
                    <a16:creationId xmlns:a16="http://schemas.microsoft.com/office/drawing/2014/main" id="{771AA611-25FC-4466-A78B-414564ADF528}"/>
                  </a:ext>
                </a:extLst>
              </p:cNvPr>
              <p:cNvSpPr/>
              <p:nvPr/>
            </p:nvSpPr>
            <p:spPr bwMode="auto">
              <a:xfrm>
                <a:off x="5673577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5" name="Блок-схема: ссылка на другую страницу 4">
                <a:extLst>
                  <a:ext uri="{FF2B5EF4-FFF2-40B4-BE49-F238E27FC236}">
                    <a16:creationId xmlns:a16="http://schemas.microsoft.com/office/drawing/2014/main" id="{4C7C4B50-AA60-4C80-AB01-A791B5914D61}"/>
                  </a:ext>
                </a:extLst>
              </p:cNvPr>
              <p:cNvSpPr/>
              <p:nvPr/>
            </p:nvSpPr>
            <p:spPr bwMode="auto">
              <a:xfrm>
                <a:off x="3182864" y="1301750"/>
                <a:ext cx="2778273" cy="337820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Блок-схема: ручное управление 7">
                <a:extLst>
                  <a:ext uri="{FF2B5EF4-FFF2-40B4-BE49-F238E27FC236}">
                    <a16:creationId xmlns:a16="http://schemas.microsoft.com/office/drawing/2014/main" id="{D0E7F5DB-F63F-4B3F-BDC3-D012DCCAACCE}"/>
                  </a:ext>
                </a:extLst>
              </p:cNvPr>
              <p:cNvSpPr/>
              <p:nvPr/>
            </p:nvSpPr>
            <p:spPr bwMode="auto">
              <a:xfrm flipV="1">
                <a:off x="3182863" y="938186"/>
                <a:ext cx="2778272" cy="363564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2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80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9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9935"/>
                  <a:gd name="connsiteX1" fmla="*/ 10000 w 10000"/>
                  <a:gd name="connsiteY1" fmla="*/ 0 h 9935"/>
                  <a:gd name="connsiteX2" fmla="*/ 6809 w 10000"/>
                  <a:gd name="connsiteY2" fmla="*/ 9870 h 9935"/>
                  <a:gd name="connsiteX3" fmla="*/ 3191 w 10000"/>
                  <a:gd name="connsiteY3" fmla="*/ 9935 h 9935"/>
                  <a:gd name="connsiteX4" fmla="*/ 0 w 10000"/>
                  <a:gd name="connsiteY4" fmla="*/ 0 h 9935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0 w 10000"/>
                  <a:gd name="connsiteY2" fmla="*/ 10000 h 10000"/>
                  <a:gd name="connsiteX3" fmla="*/ 3191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6800" y="10000"/>
                    </a:lnTo>
                    <a:lnTo>
                      <a:pt x="3191" y="1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Блок-схема: ручное управление 8">
                <a:extLst>
                  <a:ext uri="{FF2B5EF4-FFF2-40B4-BE49-F238E27FC236}">
                    <a16:creationId xmlns:a16="http://schemas.microsoft.com/office/drawing/2014/main" id="{269E3B35-165C-4A4B-8D8A-DE272498CF24}"/>
                  </a:ext>
                </a:extLst>
              </p:cNvPr>
              <p:cNvSpPr/>
              <p:nvPr/>
            </p:nvSpPr>
            <p:spPr bwMode="auto">
              <a:xfrm flipH="1" flipV="1">
                <a:off x="692147" y="939165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Блок-схема: ручное управление 8">
                <a:extLst>
                  <a:ext uri="{FF2B5EF4-FFF2-40B4-BE49-F238E27FC236}">
                    <a16:creationId xmlns:a16="http://schemas.microsoft.com/office/drawing/2014/main" id="{4A0A0EF4-2217-4962-8D37-6039794B9F26}"/>
                  </a:ext>
                </a:extLst>
              </p:cNvPr>
              <p:cNvSpPr/>
              <p:nvPr/>
            </p:nvSpPr>
            <p:spPr bwMode="auto">
              <a:xfrm flipV="1">
                <a:off x="5071661" y="938933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C3DDA8D7-AE49-4298-B9ED-F9ACF7B1077F}"/>
                </a:ext>
              </a:extLst>
            </p:cNvPr>
            <p:cNvSpPr/>
            <p:nvPr/>
          </p:nvSpPr>
          <p:spPr>
            <a:xfrm>
              <a:off x="902112" y="1395146"/>
              <a:ext cx="1783519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Информационная база</a:t>
              </a:r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C579A364-4291-46BA-934C-A79D5F453C53}"/>
                </a:ext>
              </a:extLst>
            </p:cNvPr>
            <p:cNvSpPr/>
            <p:nvPr/>
          </p:nvSpPr>
          <p:spPr>
            <a:xfrm>
              <a:off x="3534827" y="1395146"/>
              <a:ext cx="2092818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Расчетно-аналитический слой</a:t>
              </a: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C00E4CD4-7DD7-4ACB-A3AA-549B74C013B1}"/>
                </a:ext>
              </a:extLst>
            </p:cNvPr>
            <p:cNvSpPr/>
            <p:nvPr/>
          </p:nvSpPr>
          <p:spPr>
            <a:xfrm>
              <a:off x="6477661" y="1391922"/>
              <a:ext cx="1911264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Пользовательские функции</a:t>
              </a:r>
            </a:p>
          </p:txBody>
        </p:sp>
      </p:grpSp>
      <p:sp>
        <p:nvSpPr>
          <p:cNvPr id="15" name="Text 3">
            <a:extLst>
              <a:ext uri="{FF2B5EF4-FFF2-40B4-BE49-F238E27FC236}">
                <a16:creationId xmlns:a16="http://schemas.microsoft.com/office/drawing/2014/main" id="{BF44771E-24BD-4703-B215-55B1D874AB23}"/>
              </a:ext>
            </a:extLst>
          </p:cNvPr>
          <p:cNvSpPr/>
          <p:nvPr/>
        </p:nvSpPr>
        <p:spPr>
          <a:xfrm>
            <a:off x="614807" y="1599790"/>
            <a:ext cx="2358128" cy="17847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отчетные показатели выбросов парниковых газов и загрязняющих веществ электростанций;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расход топлива по его основным видам;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выработка электрической энергии и отпуск тепловой энергии;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удельные выбросы загрязняющих веществ;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аналогичные показатели котельных, находящихся на балансе электростанций, при наличии исходных данных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0FABB67-1FC3-4A65-A168-B459711815C5}"/>
              </a:ext>
            </a:extLst>
          </p:cNvPr>
          <p:cNvSpPr/>
          <p:nvPr/>
        </p:nvSpPr>
        <p:spPr>
          <a:xfrm>
            <a:off x="3307788" y="1599791"/>
            <a:ext cx="2579642" cy="1550568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выбросов парниковых газов по видам сожженного топлива;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выбросов загрязняющих веществ по действующим ТЭС;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суммарных и удельных выбросов;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сопоставление отчетных данных ГИС ТЭК с данными о составе оборудования и расходе топлива;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формирование показателей с учетом и без учета котельных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656B010-1BBF-44E8-9E43-F4CD3243AD84}"/>
              </a:ext>
            </a:extLst>
          </p:cNvPr>
          <p:cNvSpPr/>
          <p:nvPr/>
        </p:nvSpPr>
        <p:spPr>
          <a:xfrm>
            <a:off x="6170068" y="1599791"/>
            <a:ext cx="2440531" cy="23054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поиск, фильтрация и выбор периода отображения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импорт и экспорт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поясняющих текстов формул;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округления показателей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endParaRPr lang="ru-RU" sz="800" b="0" dirty="0">
              <a:latin typeface="+mn-lt"/>
              <a:ea typeface="Source Sans 3" pitchFamily="34" charset="-122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436247B9-5E17-45EB-A82A-1637B623B4D6}"/>
              </a:ext>
            </a:extLst>
          </p:cNvPr>
          <p:cNvSpPr/>
          <p:nvPr/>
        </p:nvSpPr>
        <p:spPr>
          <a:xfrm>
            <a:off x="5200650" y="4551362"/>
            <a:ext cx="3809428" cy="444815"/>
          </a:xfrm>
          <a:prstGeom prst="roundRect">
            <a:avLst>
              <a:gd name="adj" fmla="val 7462"/>
            </a:avLst>
          </a:prstGeom>
          <a:solidFill>
            <a:srgbClr val="FDF6CF"/>
          </a:solidFill>
          <a:ln w="9525">
            <a:solidFill>
              <a:srgbClr val="EECC00"/>
            </a:solidFill>
            <a:prstDash val="solid"/>
          </a:ln>
          <a:effectLst/>
        </p:spPr>
        <p:txBody>
          <a:bodyPr anchor="ctr" anchorCtr="0">
            <a:noAutofit/>
          </a:bodyPr>
          <a:lstStyle/>
          <a:p>
            <a:endParaRPr lang="ru-RU" sz="800" b="0" dirty="0">
              <a:latin typeface="+mn-lt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BDDB744-03BB-4F26-82FA-71A4610EA10E}"/>
              </a:ext>
            </a:extLst>
          </p:cNvPr>
          <p:cNvSpPr/>
          <p:nvPr/>
        </p:nvSpPr>
        <p:spPr>
          <a:xfrm>
            <a:off x="5761656" y="4612683"/>
            <a:ext cx="3178174" cy="32318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 anchorCtr="0">
            <a:noAutofit/>
          </a:bodyPr>
          <a:lstStyle/>
          <a:p>
            <a:pPr>
              <a:lnSpc>
                <a:spcPct val="119000"/>
              </a:lnSpc>
            </a:pPr>
            <a:r>
              <a:rPr lang="ru-RU" sz="800" b="0" dirty="0">
                <a:latin typeface="+mn-lt"/>
                <a:ea typeface="Source Sans 3" pitchFamily="34" charset="-122"/>
              </a:rPr>
              <a:t>Передача данных в другие модули отсутствует</a:t>
            </a: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10DB696E-8B8C-4C76-B3B6-626D2E70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2835" y="4660712"/>
            <a:ext cx="268669" cy="268675"/>
          </a:xfrm>
          <a:prstGeom prst="rect">
            <a:avLst/>
          </a:prstGeom>
          <a:effectLst/>
        </p:spPr>
      </p:pic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A6421382-D342-4B42-B94F-20384894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68892"/>
            <a:ext cx="7617669" cy="763777"/>
          </a:xfrm>
        </p:spPr>
        <p:txBody>
          <a:bodyPr/>
          <a:lstStyle/>
          <a:p>
            <a:r>
              <a:rPr lang="ru-RU" dirty="0"/>
              <a:t>Модуль Экология (возможности)</a:t>
            </a:r>
          </a:p>
        </p:txBody>
      </p:sp>
    </p:spTree>
    <p:extLst>
      <p:ext uri="{BB962C8B-B14F-4D97-AF65-F5344CB8AC3E}">
        <p14:creationId xmlns:p14="http://schemas.microsoft.com/office/powerpoint/2010/main" val="314980243"/>
      </p:ext>
    </p:extLst>
  </p:cSld>
  <p:clrMapOvr>
    <a:masterClrMapping/>
  </p:clrMapOvr>
  <p:transition>
    <p:split orient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C36A3-849B-4FA2-8F40-319BA20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Нагрузки (интерфейс)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776C1-8FE3-45C5-8928-C8BCBB2B0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19</a:t>
            </a: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1D5844-C935-4FDC-BAB7-FF9D7898E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72" y="832669"/>
            <a:ext cx="3502614" cy="2513781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406207-56CD-4768-8C86-5DAA28CC5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895" y="1132618"/>
            <a:ext cx="5087233" cy="1833309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6EB449C-9BA9-41F9-816B-4A1AD5E77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72" y="3021780"/>
            <a:ext cx="5899566" cy="1765745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1F0763A-B047-40DB-9612-E0CC68425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30" y="3516334"/>
            <a:ext cx="3639475" cy="1417241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6" name="Rectangle 15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636976039"/>
      </p:ext>
    </p:extLst>
  </p:cSld>
  <p:clrMapOvr>
    <a:masterClrMapping/>
  </p:clrMapOvr>
  <p:transition>
    <p:split orient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D27AD1-E6A4-463A-878D-489C416A4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20</a:t>
            </a:r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C7BC29-D8FF-4C40-A276-240CFF28750D}"/>
              </a:ext>
            </a:extLst>
          </p:cNvPr>
          <p:cNvGrpSpPr/>
          <p:nvPr/>
        </p:nvGrpSpPr>
        <p:grpSpPr>
          <a:xfrm>
            <a:off x="476246" y="874686"/>
            <a:ext cx="8209981" cy="3741764"/>
            <a:chOff x="476246" y="938186"/>
            <a:chExt cx="8209981" cy="3741764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55C31640-1515-405D-97F9-A7DAF71AC5FF}"/>
                </a:ext>
              </a:extLst>
            </p:cNvPr>
            <p:cNvGrpSpPr/>
            <p:nvPr/>
          </p:nvGrpSpPr>
          <p:grpSpPr>
            <a:xfrm>
              <a:off x="476246" y="938186"/>
              <a:ext cx="8209981" cy="3741764"/>
              <a:chOff x="692147" y="938186"/>
              <a:chExt cx="7759708" cy="3741764"/>
            </a:xfrm>
          </p:grpSpPr>
          <p:sp>
            <p:nvSpPr>
              <p:cNvPr id="6" name="Блок-схема: ссылка на другую страницу 5">
                <a:extLst>
                  <a:ext uri="{FF2B5EF4-FFF2-40B4-BE49-F238E27FC236}">
                    <a16:creationId xmlns:a16="http://schemas.microsoft.com/office/drawing/2014/main" id="{B52B260C-445C-443E-8ED8-17C7D0E6ADC8}"/>
                  </a:ext>
                </a:extLst>
              </p:cNvPr>
              <p:cNvSpPr/>
              <p:nvPr/>
            </p:nvSpPr>
            <p:spPr bwMode="auto">
              <a:xfrm>
                <a:off x="692151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" name="Блок-схема: ссылка на другую страницу 6">
                <a:extLst>
                  <a:ext uri="{FF2B5EF4-FFF2-40B4-BE49-F238E27FC236}">
                    <a16:creationId xmlns:a16="http://schemas.microsoft.com/office/drawing/2014/main" id="{771AA611-25FC-4466-A78B-414564ADF528}"/>
                  </a:ext>
                </a:extLst>
              </p:cNvPr>
              <p:cNvSpPr/>
              <p:nvPr/>
            </p:nvSpPr>
            <p:spPr bwMode="auto">
              <a:xfrm>
                <a:off x="5673577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5" name="Блок-схема: ссылка на другую страницу 4">
                <a:extLst>
                  <a:ext uri="{FF2B5EF4-FFF2-40B4-BE49-F238E27FC236}">
                    <a16:creationId xmlns:a16="http://schemas.microsoft.com/office/drawing/2014/main" id="{4C7C4B50-AA60-4C80-AB01-A791B5914D61}"/>
                  </a:ext>
                </a:extLst>
              </p:cNvPr>
              <p:cNvSpPr/>
              <p:nvPr/>
            </p:nvSpPr>
            <p:spPr bwMode="auto">
              <a:xfrm>
                <a:off x="3182864" y="1301750"/>
                <a:ext cx="2778273" cy="337820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Блок-схема: ручное управление 7">
                <a:extLst>
                  <a:ext uri="{FF2B5EF4-FFF2-40B4-BE49-F238E27FC236}">
                    <a16:creationId xmlns:a16="http://schemas.microsoft.com/office/drawing/2014/main" id="{D0E7F5DB-F63F-4B3F-BDC3-D012DCCAACCE}"/>
                  </a:ext>
                </a:extLst>
              </p:cNvPr>
              <p:cNvSpPr/>
              <p:nvPr/>
            </p:nvSpPr>
            <p:spPr bwMode="auto">
              <a:xfrm flipV="1">
                <a:off x="3182863" y="938186"/>
                <a:ext cx="2778272" cy="363564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2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80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9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9935"/>
                  <a:gd name="connsiteX1" fmla="*/ 10000 w 10000"/>
                  <a:gd name="connsiteY1" fmla="*/ 0 h 9935"/>
                  <a:gd name="connsiteX2" fmla="*/ 6809 w 10000"/>
                  <a:gd name="connsiteY2" fmla="*/ 9870 h 9935"/>
                  <a:gd name="connsiteX3" fmla="*/ 3191 w 10000"/>
                  <a:gd name="connsiteY3" fmla="*/ 9935 h 9935"/>
                  <a:gd name="connsiteX4" fmla="*/ 0 w 10000"/>
                  <a:gd name="connsiteY4" fmla="*/ 0 h 9935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0 w 10000"/>
                  <a:gd name="connsiteY2" fmla="*/ 10000 h 10000"/>
                  <a:gd name="connsiteX3" fmla="*/ 3191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6800" y="10000"/>
                    </a:lnTo>
                    <a:lnTo>
                      <a:pt x="3191" y="1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Блок-схема: ручное управление 8">
                <a:extLst>
                  <a:ext uri="{FF2B5EF4-FFF2-40B4-BE49-F238E27FC236}">
                    <a16:creationId xmlns:a16="http://schemas.microsoft.com/office/drawing/2014/main" id="{269E3B35-165C-4A4B-8D8A-DE272498CF24}"/>
                  </a:ext>
                </a:extLst>
              </p:cNvPr>
              <p:cNvSpPr/>
              <p:nvPr/>
            </p:nvSpPr>
            <p:spPr bwMode="auto">
              <a:xfrm flipH="1" flipV="1">
                <a:off x="692147" y="939165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Блок-схема: ручное управление 8">
                <a:extLst>
                  <a:ext uri="{FF2B5EF4-FFF2-40B4-BE49-F238E27FC236}">
                    <a16:creationId xmlns:a16="http://schemas.microsoft.com/office/drawing/2014/main" id="{4A0A0EF4-2217-4962-8D37-6039794B9F26}"/>
                  </a:ext>
                </a:extLst>
              </p:cNvPr>
              <p:cNvSpPr/>
              <p:nvPr/>
            </p:nvSpPr>
            <p:spPr bwMode="auto">
              <a:xfrm flipV="1">
                <a:off x="5071661" y="938933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C3DDA8D7-AE49-4298-B9ED-F9ACF7B1077F}"/>
                </a:ext>
              </a:extLst>
            </p:cNvPr>
            <p:cNvSpPr/>
            <p:nvPr/>
          </p:nvSpPr>
          <p:spPr>
            <a:xfrm>
              <a:off x="902112" y="1395146"/>
              <a:ext cx="1783519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Информационная база</a:t>
              </a:r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C579A364-4291-46BA-934C-A79D5F453C53}"/>
                </a:ext>
              </a:extLst>
            </p:cNvPr>
            <p:cNvSpPr/>
            <p:nvPr/>
          </p:nvSpPr>
          <p:spPr>
            <a:xfrm>
              <a:off x="3534827" y="1395146"/>
              <a:ext cx="2092818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Расчетно-аналитический слой</a:t>
              </a: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C00E4CD4-7DD7-4ACB-A3AA-549B74C013B1}"/>
                </a:ext>
              </a:extLst>
            </p:cNvPr>
            <p:cNvSpPr/>
            <p:nvPr/>
          </p:nvSpPr>
          <p:spPr>
            <a:xfrm>
              <a:off x="6477661" y="1391922"/>
              <a:ext cx="1911264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Пользовательские функции</a:t>
              </a:r>
            </a:p>
          </p:txBody>
        </p:sp>
      </p:grpSp>
      <p:sp>
        <p:nvSpPr>
          <p:cNvPr id="15" name="Text 3">
            <a:extLst>
              <a:ext uri="{FF2B5EF4-FFF2-40B4-BE49-F238E27FC236}">
                <a16:creationId xmlns:a16="http://schemas.microsoft.com/office/drawing/2014/main" id="{BF44771E-24BD-4703-B215-55B1D874AB23}"/>
              </a:ext>
            </a:extLst>
          </p:cNvPr>
          <p:cNvSpPr/>
          <p:nvPr/>
        </p:nvSpPr>
        <p:spPr>
          <a:xfrm>
            <a:off x="614807" y="1599790"/>
            <a:ext cx="2358128" cy="17847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потребление электрической энергии;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максимумы потребления мощности;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собственные и совмещенные максимумы потребления мощности;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даты и время прохождения максимумов;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фактические, оценочные и плановые значения показателей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0FABB67-1FC3-4A65-A168-B459711815C5}"/>
              </a:ext>
            </a:extLst>
          </p:cNvPr>
          <p:cNvSpPr/>
          <p:nvPr/>
        </p:nvSpPr>
        <p:spPr>
          <a:xfrm>
            <a:off x="3307788" y="1599791"/>
            <a:ext cx="2579642" cy="1550568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агрегированных максимумов по совмещенным значениям нижестоящих территорий;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коэффициентов совмещения максимумов;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определение совмещенных максимумов на час прохождения максимума энергосистемы,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ОЭС</a:t>
            </a:r>
            <a:r>
              <a:rPr lang="ru-RU" sz="800" b="0" dirty="0">
                <a:latin typeface="+mn-lt"/>
                <a:ea typeface="Source Sans 3" pitchFamily="34" charset="-122"/>
              </a:rPr>
              <a:t>,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энергозоны</a:t>
            </a:r>
            <a:r>
              <a:rPr lang="ru-RU" sz="800" b="0" dirty="0">
                <a:latin typeface="+mn-lt"/>
                <a:ea typeface="Source Sans 3" pitchFamily="34" charset="-122"/>
              </a:rPr>
              <a:t> и ЕЭС России;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формирование сводных показателей по уровням территориальной иерархии;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сопоставление исторических и расчетных максимумов потребления мощности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656B010-1BBF-44E8-9E43-F4CD3243AD84}"/>
              </a:ext>
            </a:extLst>
          </p:cNvPr>
          <p:cNvSpPr/>
          <p:nvPr/>
        </p:nvSpPr>
        <p:spPr>
          <a:xfrm>
            <a:off x="6170068" y="1599791"/>
            <a:ext cx="2440531" cy="23054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поиск, фильтрация и выбор периода отображения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экспорт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формирование сводных таблиц;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округления показателей;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выбор варианта территориального периметра;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поясняющих текстов формул;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просмотр истории изменений сводных показателей нагрузки;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добавление, редактирование и удаление данных (в зависимости от роли пользователя)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endParaRPr lang="ru-RU" sz="800" b="0" dirty="0">
              <a:latin typeface="+mn-lt"/>
              <a:ea typeface="Source Sans 3" pitchFamily="34" charset="-122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436247B9-5E17-45EB-A82A-1637B623B4D6}"/>
              </a:ext>
            </a:extLst>
          </p:cNvPr>
          <p:cNvSpPr/>
          <p:nvPr/>
        </p:nvSpPr>
        <p:spPr>
          <a:xfrm>
            <a:off x="5200650" y="4551362"/>
            <a:ext cx="3809428" cy="444815"/>
          </a:xfrm>
          <a:prstGeom prst="roundRect">
            <a:avLst>
              <a:gd name="adj" fmla="val 7462"/>
            </a:avLst>
          </a:prstGeom>
          <a:solidFill>
            <a:srgbClr val="FDF6CF"/>
          </a:solidFill>
          <a:ln w="9525">
            <a:solidFill>
              <a:srgbClr val="EECC00"/>
            </a:solidFill>
            <a:prstDash val="solid"/>
          </a:ln>
          <a:effectLst/>
        </p:spPr>
        <p:txBody>
          <a:bodyPr anchor="ctr" anchorCtr="0">
            <a:noAutofit/>
          </a:bodyPr>
          <a:lstStyle/>
          <a:p>
            <a:endParaRPr lang="ru-RU" sz="800" b="0" dirty="0">
              <a:latin typeface="+mn-lt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BDDB744-03BB-4F26-82FA-71A4610EA10E}"/>
              </a:ext>
            </a:extLst>
          </p:cNvPr>
          <p:cNvSpPr/>
          <p:nvPr/>
        </p:nvSpPr>
        <p:spPr>
          <a:xfrm>
            <a:off x="5761656" y="4612683"/>
            <a:ext cx="3178174" cy="32318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 anchorCtr="0">
            <a:noAutofit/>
          </a:bodyPr>
          <a:lstStyle/>
          <a:p>
            <a:pPr>
              <a:lnSpc>
                <a:spcPct val="119000"/>
              </a:lnSpc>
            </a:pPr>
            <a:r>
              <a:rPr lang="ru-RU" sz="800" b="0" dirty="0">
                <a:latin typeface="+mn-lt"/>
                <a:ea typeface="Source Sans 3" pitchFamily="34" charset="-122"/>
              </a:rPr>
              <a:t>Передача данных в модули «Балансы» и «Спрос»</a:t>
            </a: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10DB696E-8B8C-4C76-B3B6-626D2E70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2835" y="4660712"/>
            <a:ext cx="268669" cy="268675"/>
          </a:xfrm>
          <a:prstGeom prst="rect">
            <a:avLst/>
          </a:prstGeom>
          <a:effectLst/>
        </p:spPr>
      </p:pic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A6421382-D342-4B42-B94F-20384894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68892"/>
            <a:ext cx="7617669" cy="763777"/>
          </a:xfrm>
        </p:spPr>
        <p:txBody>
          <a:bodyPr/>
          <a:lstStyle/>
          <a:p>
            <a:r>
              <a:rPr lang="ru-RU" dirty="0"/>
              <a:t>Модуль Нагрузки (возможности)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82385202"/>
      </p:ext>
    </p:extLst>
  </p:cSld>
  <p:clrMapOvr>
    <a:masterClrMapping/>
  </p:clrMapOvr>
  <p:transition>
    <p:split orient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C36A3-849B-4FA2-8F40-319BA20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Спрос (интерфейс)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776C1-8FE3-45C5-8928-C8BCBB2B0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21</a:t>
            </a: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F5158A-1B7E-4EEC-9005-8754CE5B9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570" y="843759"/>
            <a:ext cx="4484855" cy="2211579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B3D34AD-3701-40EC-BCB2-5CAE92958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5" y="843759"/>
            <a:ext cx="4018261" cy="2407442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C32D30D-E142-4F7D-B574-46F53A1E1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24" y="2808097"/>
            <a:ext cx="4231823" cy="2211578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4" name="Rectangle 13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656187936"/>
      </p:ext>
    </p:extLst>
  </p:cSld>
  <p:clrMapOvr>
    <a:masterClrMapping/>
  </p:clrMapOvr>
  <p:transition>
    <p:split orient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D27AD1-E6A4-463A-878D-489C416A4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22</a:t>
            </a:r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C7BC29-D8FF-4C40-A276-240CFF28750D}"/>
              </a:ext>
            </a:extLst>
          </p:cNvPr>
          <p:cNvGrpSpPr/>
          <p:nvPr/>
        </p:nvGrpSpPr>
        <p:grpSpPr>
          <a:xfrm>
            <a:off x="476246" y="874686"/>
            <a:ext cx="8209981" cy="3741764"/>
            <a:chOff x="476246" y="938186"/>
            <a:chExt cx="8209981" cy="3741764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55C31640-1515-405D-97F9-A7DAF71AC5FF}"/>
                </a:ext>
              </a:extLst>
            </p:cNvPr>
            <p:cNvGrpSpPr/>
            <p:nvPr/>
          </p:nvGrpSpPr>
          <p:grpSpPr>
            <a:xfrm>
              <a:off x="476246" y="938186"/>
              <a:ext cx="8209981" cy="3741764"/>
              <a:chOff x="692147" y="938186"/>
              <a:chExt cx="7759708" cy="3741764"/>
            </a:xfrm>
          </p:grpSpPr>
          <p:sp>
            <p:nvSpPr>
              <p:cNvPr id="6" name="Блок-схема: ссылка на другую страницу 5">
                <a:extLst>
                  <a:ext uri="{FF2B5EF4-FFF2-40B4-BE49-F238E27FC236}">
                    <a16:creationId xmlns:a16="http://schemas.microsoft.com/office/drawing/2014/main" id="{B52B260C-445C-443E-8ED8-17C7D0E6ADC8}"/>
                  </a:ext>
                </a:extLst>
              </p:cNvPr>
              <p:cNvSpPr/>
              <p:nvPr/>
            </p:nvSpPr>
            <p:spPr bwMode="auto">
              <a:xfrm>
                <a:off x="692151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" name="Блок-схема: ссылка на другую страницу 6">
                <a:extLst>
                  <a:ext uri="{FF2B5EF4-FFF2-40B4-BE49-F238E27FC236}">
                    <a16:creationId xmlns:a16="http://schemas.microsoft.com/office/drawing/2014/main" id="{771AA611-25FC-4466-A78B-414564ADF528}"/>
                  </a:ext>
                </a:extLst>
              </p:cNvPr>
              <p:cNvSpPr/>
              <p:nvPr/>
            </p:nvSpPr>
            <p:spPr bwMode="auto">
              <a:xfrm>
                <a:off x="5673577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5" name="Блок-схема: ссылка на другую страницу 4">
                <a:extLst>
                  <a:ext uri="{FF2B5EF4-FFF2-40B4-BE49-F238E27FC236}">
                    <a16:creationId xmlns:a16="http://schemas.microsoft.com/office/drawing/2014/main" id="{4C7C4B50-AA60-4C80-AB01-A791B5914D61}"/>
                  </a:ext>
                </a:extLst>
              </p:cNvPr>
              <p:cNvSpPr/>
              <p:nvPr/>
            </p:nvSpPr>
            <p:spPr bwMode="auto">
              <a:xfrm>
                <a:off x="3182864" y="1301750"/>
                <a:ext cx="2778273" cy="337820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Блок-схема: ручное управление 7">
                <a:extLst>
                  <a:ext uri="{FF2B5EF4-FFF2-40B4-BE49-F238E27FC236}">
                    <a16:creationId xmlns:a16="http://schemas.microsoft.com/office/drawing/2014/main" id="{D0E7F5DB-F63F-4B3F-BDC3-D012DCCAACCE}"/>
                  </a:ext>
                </a:extLst>
              </p:cNvPr>
              <p:cNvSpPr/>
              <p:nvPr/>
            </p:nvSpPr>
            <p:spPr bwMode="auto">
              <a:xfrm flipV="1">
                <a:off x="3182863" y="938186"/>
                <a:ext cx="2778272" cy="363564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2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80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9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9935"/>
                  <a:gd name="connsiteX1" fmla="*/ 10000 w 10000"/>
                  <a:gd name="connsiteY1" fmla="*/ 0 h 9935"/>
                  <a:gd name="connsiteX2" fmla="*/ 6809 w 10000"/>
                  <a:gd name="connsiteY2" fmla="*/ 9870 h 9935"/>
                  <a:gd name="connsiteX3" fmla="*/ 3191 w 10000"/>
                  <a:gd name="connsiteY3" fmla="*/ 9935 h 9935"/>
                  <a:gd name="connsiteX4" fmla="*/ 0 w 10000"/>
                  <a:gd name="connsiteY4" fmla="*/ 0 h 9935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0 w 10000"/>
                  <a:gd name="connsiteY2" fmla="*/ 10000 h 10000"/>
                  <a:gd name="connsiteX3" fmla="*/ 3191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6800" y="10000"/>
                    </a:lnTo>
                    <a:lnTo>
                      <a:pt x="3191" y="1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Блок-схема: ручное управление 8">
                <a:extLst>
                  <a:ext uri="{FF2B5EF4-FFF2-40B4-BE49-F238E27FC236}">
                    <a16:creationId xmlns:a16="http://schemas.microsoft.com/office/drawing/2014/main" id="{269E3B35-165C-4A4B-8D8A-DE272498CF24}"/>
                  </a:ext>
                </a:extLst>
              </p:cNvPr>
              <p:cNvSpPr/>
              <p:nvPr/>
            </p:nvSpPr>
            <p:spPr bwMode="auto">
              <a:xfrm flipH="1" flipV="1">
                <a:off x="692147" y="939165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Блок-схема: ручное управление 8">
                <a:extLst>
                  <a:ext uri="{FF2B5EF4-FFF2-40B4-BE49-F238E27FC236}">
                    <a16:creationId xmlns:a16="http://schemas.microsoft.com/office/drawing/2014/main" id="{4A0A0EF4-2217-4962-8D37-6039794B9F26}"/>
                  </a:ext>
                </a:extLst>
              </p:cNvPr>
              <p:cNvSpPr/>
              <p:nvPr/>
            </p:nvSpPr>
            <p:spPr bwMode="auto">
              <a:xfrm flipV="1">
                <a:off x="5071661" y="938933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C3DDA8D7-AE49-4298-B9ED-F9ACF7B1077F}"/>
                </a:ext>
              </a:extLst>
            </p:cNvPr>
            <p:cNvSpPr/>
            <p:nvPr/>
          </p:nvSpPr>
          <p:spPr>
            <a:xfrm>
              <a:off x="902112" y="1395146"/>
              <a:ext cx="1783519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Информационная база</a:t>
              </a:r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C579A364-4291-46BA-934C-A79D5F453C53}"/>
                </a:ext>
              </a:extLst>
            </p:cNvPr>
            <p:cNvSpPr/>
            <p:nvPr/>
          </p:nvSpPr>
          <p:spPr>
            <a:xfrm>
              <a:off x="3534827" y="1395146"/>
              <a:ext cx="2092818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Расчетно-аналитический слой</a:t>
              </a: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C00E4CD4-7DD7-4ACB-A3AA-549B74C013B1}"/>
                </a:ext>
              </a:extLst>
            </p:cNvPr>
            <p:cNvSpPr/>
            <p:nvPr/>
          </p:nvSpPr>
          <p:spPr>
            <a:xfrm>
              <a:off x="6477661" y="1391922"/>
              <a:ext cx="1911264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Пользовательские функции</a:t>
              </a:r>
            </a:p>
          </p:txBody>
        </p:sp>
      </p:grpSp>
      <p:sp>
        <p:nvSpPr>
          <p:cNvPr id="15" name="Text 3">
            <a:extLst>
              <a:ext uri="{FF2B5EF4-FFF2-40B4-BE49-F238E27FC236}">
                <a16:creationId xmlns:a16="http://schemas.microsoft.com/office/drawing/2014/main" id="{BF44771E-24BD-4703-B215-55B1D874AB23}"/>
              </a:ext>
            </a:extLst>
          </p:cNvPr>
          <p:cNvSpPr/>
          <p:nvPr/>
        </p:nvSpPr>
        <p:spPr>
          <a:xfrm>
            <a:off x="614807" y="1599790"/>
            <a:ext cx="2358128" cy="17847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фактические, оценочные и плановые объемы потребления электрической энергии;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потребление по энергосистемам, ФО и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энергозонам</a:t>
            </a:r>
            <a:r>
              <a:rPr lang="ru-RU" sz="800" b="0" dirty="0">
                <a:latin typeface="+mn-lt"/>
                <a:ea typeface="Source Sans 3" pitchFamily="34" charset="-122"/>
              </a:rPr>
              <a:t>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потребление с учетом различных вариантов территориального периметра;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расход электрической энергии на заряд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ГАЭС</a:t>
            </a:r>
            <a:endParaRPr lang="ru-RU" sz="800" b="0" dirty="0">
              <a:latin typeface="+mn-lt"/>
              <a:ea typeface="Source Sans 3" pitchFamily="34" charset="-122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0FABB67-1FC3-4A65-A168-B459711815C5}"/>
              </a:ext>
            </a:extLst>
          </p:cNvPr>
          <p:cNvSpPr/>
          <p:nvPr/>
        </p:nvSpPr>
        <p:spPr>
          <a:xfrm>
            <a:off x="3307788" y="1599791"/>
            <a:ext cx="2579642" cy="1550568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абсолютных приростов потребления;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годовых темпов прироста потребления;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формирование итоговых значений по уровням территориальной иерархии;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совместное представление фактических, оценочных и плановых значений потребления;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учет расхода электрической энергии на заряд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ГАЭС</a:t>
            </a:r>
            <a:endParaRPr lang="ru-RU" sz="800" b="0" dirty="0">
              <a:latin typeface="+mn-lt"/>
              <a:ea typeface="Source Sans 3" pitchFamily="34" charset="-122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656B010-1BBF-44E8-9E43-F4CD3243AD84}"/>
              </a:ext>
            </a:extLst>
          </p:cNvPr>
          <p:cNvSpPr/>
          <p:nvPr/>
        </p:nvSpPr>
        <p:spPr>
          <a:xfrm>
            <a:off x="6170068" y="1599791"/>
            <a:ext cx="2440531" cy="23054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поиск, фильтрация и выбор периода отображения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импорт и экспорт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выбор варианта территориального периметра;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формирование сводных таблиц;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поясняющих текстов формул;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просмотр истории изменений сводных показателей потребления и расхода электроэнергии на заряд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ГАЭС</a:t>
            </a:r>
            <a:r>
              <a:rPr lang="ru-RU" sz="800" b="0" dirty="0">
                <a:latin typeface="+mn-lt"/>
                <a:ea typeface="Source Sans 3" pitchFamily="34" charset="-122"/>
              </a:rPr>
              <a:t>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округления показателей;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добавление, редактирование и удаление данных (в зависимости от роли пользователя)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endParaRPr lang="ru-RU" sz="800" b="0" dirty="0">
              <a:latin typeface="+mn-lt"/>
              <a:ea typeface="Source Sans 3" pitchFamily="34" charset="-122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436247B9-5E17-45EB-A82A-1637B623B4D6}"/>
              </a:ext>
            </a:extLst>
          </p:cNvPr>
          <p:cNvSpPr/>
          <p:nvPr/>
        </p:nvSpPr>
        <p:spPr>
          <a:xfrm>
            <a:off x="5200650" y="4551362"/>
            <a:ext cx="3809428" cy="444815"/>
          </a:xfrm>
          <a:prstGeom prst="roundRect">
            <a:avLst>
              <a:gd name="adj" fmla="val 7462"/>
            </a:avLst>
          </a:prstGeom>
          <a:solidFill>
            <a:srgbClr val="FDF6CF"/>
          </a:solidFill>
          <a:ln w="9525">
            <a:solidFill>
              <a:srgbClr val="EECC00"/>
            </a:solidFill>
            <a:prstDash val="solid"/>
          </a:ln>
          <a:effectLst/>
        </p:spPr>
        <p:txBody>
          <a:bodyPr anchor="ctr" anchorCtr="0">
            <a:noAutofit/>
          </a:bodyPr>
          <a:lstStyle/>
          <a:p>
            <a:endParaRPr lang="ru-RU" sz="800" b="0" dirty="0">
              <a:latin typeface="+mn-lt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BDDB744-03BB-4F26-82FA-71A4610EA10E}"/>
              </a:ext>
            </a:extLst>
          </p:cNvPr>
          <p:cNvSpPr/>
          <p:nvPr/>
        </p:nvSpPr>
        <p:spPr>
          <a:xfrm>
            <a:off x="5761656" y="4612683"/>
            <a:ext cx="3178174" cy="32318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 anchorCtr="0">
            <a:noAutofit/>
          </a:bodyPr>
          <a:lstStyle/>
          <a:p>
            <a:pPr>
              <a:lnSpc>
                <a:spcPct val="119000"/>
              </a:lnSpc>
            </a:pPr>
            <a:r>
              <a:rPr lang="ru-RU" sz="800" b="0" dirty="0">
                <a:latin typeface="+mn-lt"/>
                <a:ea typeface="Source Sans 3" pitchFamily="34" charset="-122"/>
              </a:rPr>
              <a:t>Передача данных в модули «Балансы», «Долгосрочный прогноз потребления» и «Нагрузки»</a:t>
            </a: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10DB696E-8B8C-4C76-B3B6-626D2E70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2835" y="4660712"/>
            <a:ext cx="268669" cy="268675"/>
          </a:xfrm>
          <a:prstGeom prst="rect">
            <a:avLst/>
          </a:prstGeom>
          <a:effectLst/>
        </p:spPr>
      </p:pic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A6421382-D342-4B42-B94F-20384894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68892"/>
            <a:ext cx="7617669" cy="763777"/>
          </a:xfrm>
        </p:spPr>
        <p:txBody>
          <a:bodyPr/>
          <a:lstStyle/>
          <a:p>
            <a:r>
              <a:rPr lang="ru-RU" dirty="0"/>
              <a:t>Модуль Спрос (возможности)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466640906"/>
      </p:ext>
    </p:extLst>
  </p:cSld>
  <p:clrMapOvr>
    <a:masterClrMapping/>
  </p:clrMapOvr>
  <p:transition>
    <p:split orient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C36A3-849B-4FA2-8F40-319BA20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kern="100" spc="-10" dirty="0"/>
              <a:t>М. Долгосрочный прогноз потребления (интерфейс)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776C1-8FE3-45C5-8928-C8BCBB2B0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23</a:t>
            </a:r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FEB0E79-8CDC-4748-A505-3BAF9629E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698" y="1383121"/>
            <a:ext cx="2466790" cy="3052276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44FB1B-AAAE-4DC2-8B80-7AA60E7B6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78" y="832669"/>
            <a:ext cx="4712022" cy="4198195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4" name="Rectangle 13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087183534"/>
      </p:ext>
    </p:extLst>
  </p:cSld>
  <p:clrMapOvr>
    <a:masterClrMapping/>
  </p:clrMapOvr>
  <p:transition>
    <p:split orient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D27AD1-E6A4-463A-878D-489C416A4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24</a:t>
            </a:r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C7BC29-D8FF-4C40-A276-240CFF28750D}"/>
              </a:ext>
            </a:extLst>
          </p:cNvPr>
          <p:cNvGrpSpPr/>
          <p:nvPr/>
        </p:nvGrpSpPr>
        <p:grpSpPr>
          <a:xfrm>
            <a:off x="476246" y="874686"/>
            <a:ext cx="8209981" cy="3741764"/>
            <a:chOff x="476246" y="938186"/>
            <a:chExt cx="8209981" cy="3741764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55C31640-1515-405D-97F9-A7DAF71AC5FF}"/>
                </a:ext>
              </a:extLst>
            </p:cNvPr>
            <p:cNvGrpSpPr/>
            <p:nvPr/>
          </p:nvGrpSpPr>
          <p:grpSpPr>
            <a:xfrm>
              <a:off x="476246" y="938186"/>
              <a:ext cx="8209981" cy="3741764"/>
              <a:chOff x="692147" y="938186"/>
              <a:chExt cx="7759708" cy="3741764"/>
            </a:xfrm>
          </p:grpSpPr>
          <p:sp>
            <p:nvSpPr>
              <p:cNvPr id="6" name="Блок-схема: ссылка на другую страницу 5">
                <a:extLst>
                  <a:ext uri="{FF2B5EF4-FFF2-40B4-BE49-F238E27FC236}">
                    <a16:creationId xmlns:a16="http://schemas.microsoft.com/office/drawing/2014/main" id="{B52B260C-445C-443E-8ED8-17C7D0E6ADC8}"/>
                  </a:ext>
                </a:extLst>
              </p:cNvPr>
              <p:cNvSpPr/>
              <p:nvPr/>
            </p:nvSpPr>
            <p:spPr bwMode="auto">
              <a:xfrm>
                <a:off x="692151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" name="Блок-схема: ссылка на другую страницу 6">
                <a:extLst>
                  <a:ext uri="{FF2B5EF4-FFF2-40B4-BE49-F238E27FC236}">
                    <a16:creationId xmlns:a16="http://schemas.microsoft.com/office/drawing/2014/main" id="{771AA611-25FC-4466-A78B-414564ADF528}"/>
                  </a:ext>
                </a:extLst>
              </p:cNvPr>
              <p:cNvSpPr/>
              <p:nvPr/>
            </p:nvSpPr>
            <p:spPr bwMode="auto">
              <a:xfrm>
                <a:off x="5673577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5" name="Блок-схема: ссылка на другую страницу 4">
                <a:extLst>
                  <a:ext uri="{FF2B5EF4-FFF2-40B4-BE49-F238E27FC236}">
                    <a16:creationId xmlns:a16="http://schemas.microsoft.com/office/drawing/2014/main" id="{4C7C4B50-AA60-4C80-AB01-A791B5914D61}"/>
                  </a:ext>
                </a:extLst>
              </p:cNvPr>
              <p:cNvSpPr/>
              <p:nvPr/>
            </p:nvSpPr>
            <p:spPr bwMode="auto">
              <a:xfrm>
                <a:off x="3182864" y="1301750"/>
                <a:ext cx="2778273" cy="337820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Блок-схема: ручное управление 7">
                <a:extLst>
                  <a:ext uri="{FF2B5EF4-FFF2-40B4-BE49-F238E27FC236}">
                    <a16:creationId xmlns:a16="http://schemas.microsoft.com/office/drawing/2014/main" id="{D0E7F5DB-F63F-4B3F-BDC3-D012DCCAACCE}"/>
                  </a:ext>
                </a:extLst>
              </p:cNvPr>
              <p:cNvSpPr/>
              <p:nvPr/>
            </p:nvSpPr>
            <p:spPr bwMode="auto">
              <a:xfrm flipV="1">
                <a:off x="3182863" y="938186"/>
                <a:ext cx="2778272" cy="363564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2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80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9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9935"/>
                  <a:gd name="connsiteX1" fmla="*/ 10000 w 10000"/>
                  <a:gd name="connsiteY1" fmla="*/ 0 h 9935"/>
                  <a:gd name="connsiteX2" fmla="*/ 6809 w 10000"/>
                  <a:gd name="connsiteY2" fmla="*/ 9870 h 9935"/>
                  <a:gd name="connsiteX3" fmla="*/ 3191 w 10000"/>
                  <a:gd name="connsiteY3" fmla="*/ 9935 h 9935"/>
                  <a:gd name="connsiteX4" fmla="*/ 0 w 10000"/>
                  <a:gd name="connsiteY4" fmla="*/ 0 h 9935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0 w 10000"/>
                  <a:gd name="connsiteY2" fmla="*/ 10000 h 10000"/>
                  <a:gd name="connsiteX3" fmla="*/ 3191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6800" y="10000"/>
                    </a:lnTo>
                    <a:lnTo>
                      <a:pt x="3191" y="1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Блок-схема: ручное управление 8">
                <a:extLst>
                  <a:ext uri="{FF2B5EF4-FFF2-40B4-BE49-F238E27FC236}">
                    <a16:creationId xmlns:a16="http://schemas.microsoft.com/office/drawing/2014/main" id="{269E3B35-165C-4A4B-8D8A-DE272498CF24}"/>
                  </a:ext>
                </a:extLst>
              </p:cNvPr>
              <p:cNvSpPr/>
              <p:nvPr/>
            </p:nvSpPr>
            <p:spPr bwMode="auto">
              <a:xfrm flipH="1" flipV="1">
                <a:off x="692147" y="939165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Блок-схема: ручное управление 8">
                <a:extLst>
                  <a:ext uri="{FF2B5EF4-FFF2-40B4-BE49-F238E27FC236}">
                    <a16:creationId xmlns:a16="http://schemas.microsoft.com/office/drawing/2014/main" id="{4A0A0EF4-2217-4962-8D37-6039794B9F26}"/>
                  </a:ext>
                </a:extLst>
              </p:cNvPr>
              <p:cNvSpPr/>
              <p:nvPr/>
            </p:nvSpPr>
            <p:spPr bwMode="auto">
              <a:xfrm flipV="1">
                <a:off x="5071661" y="938933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C3DDA8D7-AE49-4298-B9ED-F9ACF7B1077F}"/>
                </a:ext>
              </a:extLst>
            </p:cNvPr>
            <p:cNvSpPr/>
            <p:nvPr/>
          </p:nvSpPr>
          <p:spPr>
            <a:xfrm>
              <a:off x="902112" y="1395146"/>
              <a:ext cx="1783519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Информационная база</a:t>
              </a:r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C579A364-4291-46BA-934C-A79D5F453C53}"/>
                </a:ext>
              </a:extLst>
            </p:cNvPr>
            <p:cNvSpPr/>
            <p:nvPr/>
          </p:nvSpPr>
          <p:spPr>
            <a:xfrm>
              <a:off x="3534827" y="1395146"/>
              <a:ext cx="2092818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Расчетно-аналитический слой</a:t>
              </a: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C00E4CD4-7DD7-4ACB-A3AA-549B74C013B1}"/>
                </a:ext>
              </a:extLst>
            </p:cNvPr>
            <p:cNvSpPr/>
            <p:nvPr/>
          </p:nvSpPr>
          <p:spPr>
            <a:xfrm>
              <a:off x="6477661" y="1391922"/>
              <a:ext cx="1911264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Пользовательские функции</a:t>
              </a:r>
            </a:p>
          </p:txBody>
        </p:sp>
      </p:grpSp>
      <p:sp>
        <p:nvSpPr>
          <p:cNvPr id="15" name="Text 3">
            <a:extLst>
              <a:ext uri="{FF2B5EF4-FFF2-40B4-BE49-F238E27FC236}">
                <a16:creationId xmlns:a16="http://schemas.microsoft.com/office/drawing/2014/main" id="{BF44771E-24BD-4703-B215-55B1D874AB23}"/>
              </a:ext>
            </a:extLst>
          </p:cNvPr>
          <p:cNvSpPr/>
          <p:nvPr/>
        </p:nvSpPr>
        <p:spPr>
          <a:xfrm>
            <a:off x="614807" y="1599790"/>
            <a:ext cx="2358128" cy="17847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выпуск продукции и накопленные инвестиции в основной капитал по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ВЭД</a:t>
            </a:r>
            <a:r>
              <a:rPr lang="ru-RU" sz="800" b="0" dirty="0">
                <a:latin typeface="+mn-lt"/>
                <a:ea typeface="Source Sans 3" pitchFamily="34" charset="-122"/>
              </a:rPr>
              <a:t>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ВРП;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потребление электрической энергии по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ВЭД</a:t>
            </a:r>
            <a:r>
              <a:rPr lang="ru-RU" sz="800" b="0" dirty="0">
                <a:latin typeface="+mn-lt"/>
                <a:ea typeface="Source Sans 3" pitchFamily="34" charset="-122"/>
              </a:rPr>
              <a:t>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потери электрической энергии в сетях;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расход электрической энергии на собственные нужды электростанций;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фактические и прогнозные значения показателей по РФ и ФО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0FABB67-1FC3-4A65-A168-B459711815C5}"/>
              </a:ext>
            </a:extLst>
          </p:cNvPr>
          <p:cNvSpPr/>
          <p:nvPr/>
        </p:nvSpPr>
        <p:spPr>
          <a:xfrm>
            <a:off x="3307788" y="1599791"/>
            <a:ext cx="2579642" cy="1550568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фактической и перспективной электроемкости по РФ и ФО;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электроемкости по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ВЭД</a:t>
            </a:r>
            <a:r>
              <a:rPr lang="ru-RU" sz="800" b="0" dirty="0">
                <a:latin typeface="+mn-lt"/>
                <a:ea typeface="Source Sans 3" pitchFamily="34" charset="-122"/>
              </a:rPr>
              <a:t>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определение зависимости электроемкости от накопленных инвестиций;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коэффициентов эластичности и параметров расчетных зависимостей;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перспективного потребления электрической энергии на основе прогнозного выпуска продукции;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определение отклонений фактической электроемкости от расчетной;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расчет темпов прироста потребления;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графическое представление фактических и расчетных зависимостей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656B010-1BBF-44E8-9E43-F4CD3243AD84}"/>
              </a:ext>
            </a:extLst>
          </p:cNvPr>
          <p:cNvSpPr/>
          <p:nvPr/>
        </p:nvSpPr>
        <p:spPr>
          <a:xfrm>
            <a:off x="6170068" y="1599791"/>
            <a:ext cx="2440531" cy="23054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поиск, фильтрация и выбор периода отображения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импорт и экспорт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округления показателей;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поясняющих текстов формул;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проверка характерных точек расчетной зависимости на аномальные значения;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просмотр истории изменений данных долгосрочного прогноза;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редактирование данных (в зависимости от роли пользователя)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endParaRPr lang="ru-RU" sz="800" b="0" dirty="0">
              <a:latin typeface="+mn-lt"/>
              <a:ea typeface="Source Sans 3" pitchFamily="34" charset="-122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436247B9-5E17-45EB-A82A-1637B623B4D6}"/>
              </a:ext>
            </a:extLst>
          </p:cNvPr>
          <p:cNvSpPr/>
          <p:nvPr/>
        </p:nvSpPr>
        <p:spPr>
          <a:xfrm>
            <a:off x="5200650" y="4551362"/>
            <a:ext cx="3809428" cy="444815"/>
          </a:xfrm>
          <a:prstGeom prst="roundRect">
            <a:avLst>
              <a:gd name="adj" fmla="val 7462"/>
            </a:avLst>
          </a:prstGeom>
          <a:solidFill>
            <a:srgbClr val="FDF6CF"/>
          </a:solidFill>
          <a:ln w="9525">
            <a:solidFill>
              <a:srgbClr val="EECC00"/>
            </a:solidFill>
            <a:prstDash val="solid"/>
          </a:ln>
          <a:effectLst/>
        </p:spPr>
        <p:txBody>
          <a:bodyPr anchor="ctr" anchorCtr="0">
            <a:noAutofit/>
          </a:bodyPr>
          <a:lstStyle/>
          <a:p>
            <a:endParaRPr lang="ru-RU" sz="800" b="0" dirty="0">
              <a:latin typeface="+mn-lt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BDDB744-03BB-4F26-82FA-71A4610EA10E}"/>
              </a:ext>
            </a:extLst>
          </p:cNvPr>
          <p:cNvSpPr/>
          <p:nvPr/>
        </p:nvSpPr>
        <p:spPr>
          <a:xfrm>
            <a:off x="5761656" y="4612683"/>
            <a:ext cx="3178174" cy="32318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 anchorCtr="0">
            <a:noAutofit/>
          </a:bodyPr>
          <a:lstStyle/>
          <a:p>
            <a:pPr>
              <a:lnSpc>
                <a:spcPct val="119000"/>
              </a:lnSpc>
            </a:pPr>
            <a:r>
              <a:rPr lang="ru-RU" sz="800" b="0" dirty="0">
                <a:latin typeface="+mn-lt"/>
                <a:ea typeface="Source Sans 3" pitchFamily="34" charset="-122"/>
              </a:rPr>
              <a:t>Передача данных в модуль «Рациональная структура» (конец 2026)</a:t>
            </a: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10DB696E-8B8C-4C76-B3B6-626D2E70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2835" y="4660712"/>
            <a:ext cx="268669" cy="268675"/>
          </a:xfrm>
          <a:prstGeom prst="rect">
            <a:avLst/>
          </a:prstGeom>
          <a:effectLst/>
        </p:spPr>
      </p:pic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A6421382-D342-4B42-B94F-20384894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68892"/>
            <a:ext cx="7617672" cy="763777"/>
          </a:xfrm>
        </p:spPr>
        <p:txBody>
          <a:bodyPr/>
          <a:lstStyle/>
          <a:p>
            <a:r>
              <a:rPr lang="ru-RU" spc="-100" dirty="0"/>
              <a:t>М. </a:t>
            </a:r>
            <a:r>
              <a:rPr lang="ru-RU" kern="0" spc="-100" dirty="0"/>
              <a:t>Долгосрочный прогноз потребления </a:t>
            </a:r>
            <a:r>
              <a:rPr lang="ru-RU" spc="-100" dirty="0"/>
              <a:t>(возможности)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399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839893859"/>
      </p:ext>
    </p:extLst>
  </p:cSld>
  <p:clrMapOvr>
    <a:masterClrMapping/>
  </p:clrMapOvr>
  <p:transition>
    <p:split orient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C36A3-849B-4FA2-8F40-319BA20C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 Характеристики территорий (интерфейс)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A776C1-8FE3-45C5-8928-C8BCBB2B06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26</a:t>
            </a:r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1174DC-C33B-450C-81A6-5D46BCFC5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" y="832670"/>
            <a:ext cx="3351569" cy="1241876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4C2BBC-B3B2-437A-B462-E10DB2176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462" y="2154555"/>
            <a:ext cx="6976600" cy="2848290"/>
          </a:xfrm>
          <a:prstGeom prst="roundRect">
            <a:avLst/>
          </a:prstGeom>
          <a:ln cap="rnd">
            <a:solidFill>
              <a:srgbClr val="83704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940281"/>
                      <a:gd name="connsiteY0" fmla="*/ 270167 h 1620969"/>
                      <a:gd name="connsiteX1" fmla="*/ 270167 w 3940281"/>
                      <a:gd name="connsiteY1" fmla="*/ 0 h 1620969"/>
                      <a:gd name="connsiteX2" fmla="*/ 870824 w 3940281"/>
                      <a:gd name="connsiteY2" fmla="*/ 0 h 1620969"/>
                      <a:gd name="connsiteX3" fmla="*/ 1335484 w 3940281"/>
                      <a:gd name="connsiteY3" fmla="*/ 0 h 1620969"/>
                      <a:gd name="connsiteX4" fmla="*/ 1902142 w 3940281"/>
                      <a:gd name="connsiteY4" fmla="*/ 0 h 1620969"/>
                      <a:gd name="connsiteX5" fmla="*/ 2400800 w 3940281"/>
                      <a:gd name="connsiteY5" fmla="*/ 0 h 1620969"/>
                      <a:gd name="connsiteX6" fmla="*/ 3001458 w 3940281"/>
                      <a:gd name="connsiteY6" fmla="*/ 0 h 1620969"/>
                      <a:gd name="connsiteX7" fmla="*/ 3670114 w 3940281"/>
                      <a:gd name="connsiteY7" fmla="*/ 0 h 1620969"/>
                      <a:gd name="connsiteX8" fmla="*/ 3940281 w 3940281"/>
                      <a:gd name="connsiteY8" fmla="*/ 270167 h 1620969"/>
                      <a:gd name="connsiteX9" fmla="*/ 3940281 w 3940281"/>
                      <a:gd name="connsiteY9" fmla="*/ 810485 h 1620969"/>
                      <a:gd name="connsiteX10" fmla="*/ 3940281 w 3940281"/>
                      <a:gd name="connsiteY10" fmla="*/ 1350802 h 1620969"/>
                      <a:gd name="connsiteX11" fmla="*/ 3670114 w 3940281"/>
                      <a:gd name="connsiteY11" fmla="*/ 1620969 h 1620969"/>
                      <a:gd name="connsiteX12" fmla="*/ 3035457 w 3940281"/>
                      <a:gd name="connsiteY12" fmla="*/ 1620969 h 1620969"/>
                      <a:gd name="connsiteX13" fmla="*/ 2536798 w 3940281"/>
                      <a:gd name="connsiteY13" fmla="*/ 1620969 h 1620969"/>
                      <a:gd name="connsiteX14" fmla="*/ 2072139 w 3940281"/>
                      <a:gd name="connsiteY14" fmla="*/ 1620969 h 1620969"/>
                      <a:gd name="connsiteX15" fmla="*/ 1573480 w 3940281"/>
                      <a:gd name="connsiteY15" fmla="*/ 1620969 h 1620969"/>
                      <a:gd name="connsiteX16" fmla="*/ 1040822 w 3940281"/>
                      <a:gd name="connsiteY16" fmla="*/ 1620969 h 1620969"/>
                      <a:gd name="connsiteX17" fmla="*/ 270167 w 3940281"/>
                      <a:gd name="connsiteY17" fmla="*/ 1620969 h 1620969"/>
                      <a:gd name="connsiteX18" fmla="*/ 0 w 3940281"/>
                      <a:gd name="connsiteY18" fmla="*/ 1350802 h 1620969"/>
                      <a:gd name="connsiteX19" fmla="*/ 0 w 3940281"/>
                      <a:gd name="connsiteY19" fmla="*/ 788872 h 1620969"/>
                      <a:gd name="connsiteX20" fmla="*/ 0 w 3940281"/>
                      <a:gd name="connsiteY20" fmla="*/ 270167 h 16209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940281" h="1620969" fill="none" extrusionOk="0">
                        <a:moveTo>
                          <a:pt x="0" y="270167"/>
                        </a:moveTo>
                        <a:cubicBezTo>
                          <a:pt x="18663" y="157910"/>
                          <a:pt x="86324" y="18264"/>
                          <a:pt x="270167" y="0"/>
                        </a:cubicBezTo>
                        <a:cubicBezTo>
                          <a:pt x="497853" y="-830"/>
                          <a:pt x="743522" y="3666"/>
                          <a:pt x="870824" y="0"/>
                        </a:cubicBezTo>
                        <a:cubicBezTo>
                          <a:pt x="998126" y="-3666"/>
                          <a:pt x="1159153" y="14224"/>
                          <a:pt x="1335484" y="0"/>
                        </a:cubicBezTo>
                        <a:cubicBezTo>
                          <a:pt x="1511815" y="-14224"/>
                          <a:pt x="1711566" y="24238"/>
                          <a:pt x="1902142" y="0"/>
                        </a:cubicBezTo>
                        <a:cubicBezTo>
                          <a:pt x="2092718" y="-24238"/>
                          <a:pt x="2177171" y="48573"/>
                          <a:pt x="2400800" y="0"/>
                        </a:cubicBezTo>
                        <a:cubicBezTo>
                          <a:pt x="2624429" y="-48573"/>
                          <a:pt x="2836584" y="30656"/>
                          <a:pt x="3001458" y="0"/>
                        </a:cubicBezTo>
                        <a:cubicBezTo>
                          <a:pt x="3166332" y="-30656"/>
                          <a:pt x="3362020" y="41731"/>
                          <a:pt x="3670114" y="0"/>
                        </a:cubicBezTo>
                        <a:cubicBezTo>
                          <a:pt x="3809555" y="30452"/>
                          <a:pt x="3938021" y="113839"/>
                          <a:pt x="3940281" y="270167"/>
                        </a:cubicBezTo>
                        <a:cubicBezTo>
                          <a:pt x="3949655" y="504239"/>
                          <a:pt x="3920645" y="680309"/>
                          <a:pt x="3940281" y="810485"/>
                        </a:cubicBezTo>
                        <a:cubicBezTo>
                          <a:pt x="3959917" y="940661"/>
                          <a:pt x="3925588" y="1210152"/>
                          <a:pt x="3940281" y="1350802"/>
                        </a:cubicBezTo>
                        <a:cubicBezTo>
                          <a:pt x="3934104" y="1503474"/>
                          <a:pt x="3827859" y="1644098"/>
                          <a:pt x="3670114" y="1620969"/>
                        </a:cubicBezTo>
                        <a:cubicBezTo>
                          <a:pt x="3387587" y="1642483"/>
                          <a:pt x="3184736" y="1569544"/>
                          <a:pt x="3035457" y="1620969"/>
                        </a:cubicBezTo>
                        <a:cubicBezTo>
                          <a:pt x="2886178" y="1672394"/>
                          <a:pt x="2656658" y="1563096"/>
                          <a:pt x="2536798" y="1620969"/>
                        </a:cubicBezTo>
                        <a:cubicBezTo>
                          <a:pt x="2416938" y="1678842"/>
                          <a:pt x="2259224" y="1612236"/>
                          <a:pt x="2072139" y="1620969"/>
                        </a:cubicBezTo>
                        <a:cubicBezTo>
                          <a:pt x="1885054" y="1629702"/>
                          <a:pt x="1748418" y="1618240"/>
                          <a:pt x="1573480" y="1620969"/>
                        </a:cubicBezTo>
                        <a:cubicBezTo>
                          <a:pt x="1398542" y="1623698"/>
                          <a:pt x="1165531" y="1590928"/>
                          <a:pt x="1040822" y="1620969"/>
                        </a:cubicBezTo>
                        <a:cubicBezTo>
                          <a:pt x="916113" y="1651010"/>
                          <a:pt x="459545" y="1615162"/>
                          <a:pt x="270167" y="1620969"/>
                        </a:cubicBezTo>
                        <a:cubicBezTo>
                          <a:pt x="116812" y="1625084"/>
                          <a:pt x="6499" y="1501470"/>
                          <a:pt x="0" y="1350802"/>
                        </a:cubicBezTo>
                        <a:cubicBezTo>
                          <a:pt x="-25613" y="1229685"/>
                          <a:pt x="21400" y="902104"/>
                          <a:pt x="0" y="788872"/>
                        </a:cubicBezTo>
                        <a:cubicBezTo>
                          <a:pt x="-21400" y="675640"/>
                          <a:pt x="32089" y="438419"/>
                          <a:pt x="0" y="270167"/>
                        </a:cubicBezTo>
                        <a:close/>
                      </a:path>
                      <a:path w="3940281" h="1620969" stroke="0" extrusionOk="0">
                        <a:moveTo>
                          <a:pt x="0" y="270167"/>
                        </a:moveTo>
                        <a:cubicBezTo>
                          <a:pt x="-16033" y="111068"/>
                          <a:pt x="82320" y="14501"/>
                          <a:pt x="270167" y="0"/>
                        </a:cubicBezTo>
                        <a:cubicBezTo>
                          <a:pt x="480948" y="-16343"/>
                          <a:pt x="606344" y="26268"/>
                          <a:pt x="904824" y="0"/>
                        </a:cubicBezTo>
                        <a:cubicBezTo>
                          <a:pt x="1203304" y="-26268"/>
                          <a:pt x="1214566" y="23721"/>
                          <a:pt x="1437482" y="0"/>
                        </a:cubicBezTo>
                        <a:cubicBezTo>
                          <a:pt x="1660398" y="-23721"/>
                          <a:pt x="1755117" y="13272"/>
                          <a:pt x="1936141" y="0"/>
                        </a:cubicBezTo>
                        <a:cubicBezTo>
                          <a:pt x="2117165" y="-13272"/>
                          <a:pt x="2280006" y="12995"/>
                          <a:pt x="2536798" y="0"/>
                        </a:cubicBezTo>
                        <a:cubicBezTo>
                          <a:pt x="2793590" y="-12995"/>
                          <a:pt x="2846134" y="1841"/>
                          <a:pt x="3069457" y="0"/>
                        </a:cubicBezTo>
                        <a:cubicBezTo>
                          <a:pt x="3292780" y="-1841"/>
                          <a:pt x="3404954" y="31816"/>
                          <a:pt x="3670114" y="0"/>
                        </a:cubicBezTo>
                        <a:cubicBezTo>
                          <a:pt x="3816677" y="-25236"/>
                          <a:pt x="3923972" y="143623"/>
                          <a:pt x="3940281" y="270167"/>
                        </a:cubicBezTo>
                        <a:cubicBezTo>
                          <a:pt x="3986512" y="404790"/>
                          <a:pt x="3896405" y="566886"/>
                          <a:pt x="3940281" y="788872"/>
                        </a:cubicBezTo>
                        <a:cubicBezTo>
                          <a:pt x="3984157" y="1010859"/>
                          <a:pt x="3923346" y="1225406"/>
                          <a:pt x="3940281" y="1350802"/>
                        </a:cubicBezTo>
                        <a:cubicBezTo>
                          <a:pt x="3949861" y="1514272"/>
                          <a:pt x="3823457" y="1663784"/>
                          <a:pt x="3670114" y="1620969"/>
                        </a:cubicBezTo>
                        <a:cubicBezTo>
                          <a:pt x="3544331" y="1667334"/>
                          <a:pt x="3376330" y="1620621"/>
                          <a:pt x="3205455" y="1620969"/>
                        </a:cubicBezTo>
                        <a:cubicBezTo>
                          <a:pt x="3034580" y="1621317"/>
                          <a:pt x="2822362" y="1557938"/>
                          <a:pt x="2570798" y="1620969"/>
                        </a:cubicBezTo>
                        <a:cubicBezTo>
                          <a:pt x="2319234" y="1684000"/>
                          <a:pt x="2211917" y="1582291"/>
                          <a:pt x="2072139" y="1620969"/>
                        </a:cubicBezTo>
                        <a:cubicBezTo>
                          <a:pt x="1932361" y="1659647"/>
                          <a:pt x="1733780" y="1614594"/>
                          <a:pt x="1505481" y="1620969"/>
                        </a:cubicBezTo>
                        <a:cubicBezTo>
                          <a:pt x="1277182" y="1627344"/>
                          <a:pt x="1033421" y="1585556"/>
                          <a:pt x="870824" y="1620969"/>
                        </a:cubicBezTo>
                        <a:cubicBezTo>
                          <a:pt x="708227" y="1656382"/>
                          <a:pt x="506306" y="1611510"/>
                          <a:pt x="270167" y="1620969"/>
                        </a:cubicBezTo>
                        <a:cubicBezTo>
                          <a:pt x="110335" y="1639964"/>
                          <a:pt x="31168" y="1523171"/>
                          <a:pt x="0" y="1350802"/>
                        </a:cubicBezTo>
                        <a:cubicBezTo>
                          <a:pt x="-61328" y="1128491"/>
                          <a:pt x="53811" y="1055476"/>
                          <a:pt x="0" y="832097"/>
                        </a:cubicBezTo>
                        <a:cubicBezTo>
                          <a:pt x="-53811" y="608718"/>
                          <a:pt x="8790" y="478520"/>
                          <a:pt x="0" y="27016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495923030"/>
      </p:ext>
    </p:extLst>
  </p:cSld>
  <p:clrMapOvr>
    <a:masterClrMapping/>
  </p:clrMapOvr>
  <p:transition>
    <p:split orient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D27AD1-E6A4-463A-878D-489C416A4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27</a:t>
            </a:r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C7BC29-D8FF-4C40-A276-240CFF28750D}"/>
              </a:ext>
            </a:extLst>
          </p:cNvPr>
          <p:cNvGrpSpPr/>
          <p:nvPr/>
        </p:nvGrpSpPr>
        <p:grpSpPr>
          <a:xfrm>
            <a:off x="476246" y="874686"/>
            <a:ext cx="8209981" cy="3741764"/>
            <a:chOff x="476246" y="938186"/>
            <a:chExt cx="8209981" cy="3741764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55C31640-1515-405D-97F9-A7DAF71AC5FF}"/>
                </a:ext>
              </a:extLst>
            </p:cNvPr>
            <p:cNvGrpSpPr/>
            <p:nvPr/>
          </p:nvGrpSpPr>
          <p:grpSpPr>
            <a:xfrm>
              <a:off x="476246" y="938186"/>
              <a:ext cx="8209981" cy="3741764"/>
              <a:chOff x="692147" y="938186"/>
              <a:chExt cx="7759708" cy="3741764"/>
            </a:xfrm>
          </p:grpSpPr>
          <p:sp>
            <p:nvSpPr>
              <p:cNvPr id="6" name="Блок-схема: ссылка на другую страницу 5">
                <a:extLst>
                  <a:ext uri="{FF2B5EF4-FFF2-40B4-BE49-F238E27FC236}">
                    <a16:creationId xmlns:a16="http://schemas.microsoft.com/office/drawing/2014/main" id="{B52B260C-445C-443E-8ED8-17C7D0E6ADC8}"/>
                  </a:ext>
                </a:extLst>
              </p:cNvPr>
              <p:cNvSpPr/>
              <p:nvPr/>
            </p:nvSpPr>
            <p:spPr bwMode="auto">
              <a:xfrm>
                <a:off x="692151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7" name="Блок-схема: ссылка на другую страницу 6">
                <a:extLst>
                  <a:ext uri="{FF2B5EF4-FFF2-40B4-BE49-F238E27FC236}">
                    <a16:creationId xmlns:a16="http://schemas.microsoft.com/office/drawing/2014/main" id="{771AA611-25FC-4466-A78B-414564ADF528}"/>
                  </a:ext>
                </a:extLst>
              </p:cNvPr>
              <p:cNvSpPr/>
              <p:nvPr/>
            </p:nvSpPr>
            <p:spPr bwMode="auto">
              <a:xfrm>
                <a:off x="5673577" y="1301750"/>
                <a:ext cx="2778273" cy="301625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5" name="Блок-схема: ссылка на другую страницу 4">
                <a:extLst>
                  <a:ext uri="{FF2B5EF4-FFF2-40B4-BE49-F238E27FC236}">
                    <a16:creationId xmlns:a16="http://schemas.microsoft.com/office/drawing/2014/main" id="{4C7C4B50-AA60-4C80-AB01-A791B5914D61}"/>
                  </a:ext>
                </a:extLst>
              </p:cNvPr>
              <p:cNvSpPr/>
              <p:nvPr/>
            </p:nvSpPr>
            <p:spPr bwMode="auto">
              <a:xfrm>
                <a:off x="3182864" y="1301750"/>
                <a:ext cx="2778273" cy="3378200"/>
              </a:xfrm>
              <a:prstGeom prst="flowChartOffpageConnector">
                <a:avLst/>
              </a:pr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Блок-схема: ручное управление 7">
                <a:extLst>
                  <a:ext uri="{FF2B5EF4-FFF2-40B4-BE49-F238E27FC236}">
                    <a16:creationId xmlns:a16="http://schemas.microsoft.com/office/drawing/2014/main" id="{D0E7F5DB-F63F-4B3F-BDC3-D012DCCAACCE}"/>
                  </a:ext>
                </a:extLst>
              </p:cNvPr>
              <p:cNvSpPr/>
              <p:nvPr/>
            </p:nvSpPr>
            <p:spPr bwMode="auto">
              <a:xfrm flipV="1">
                <a:off x="3182863" y="938186"/>
                <a:ext cx="2778272" cy="363564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200 w 10000"/>
                  <a:gd name="connsiteY3" fmla="*/ 10000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80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7143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9 w 10000"/>
                  <a:gd name="connsiteY2" fmla="*/ 10000 h 10000"/>
                  <a:gd name="connsiteX3" fmla="*/ 3191 w 10000"/>
                  <a:gd name="connsiteY3" fmla="*/ 9935 h 10000"/>
                  <a:gd name="connsiteX4" fmla="*/ 0 w 10000"/>
                  <a:gd name="connsiteY4" fmla="*/ 0 h 10000"/>
                  <a:gd name="connsiteX0" fmla="*/ 0 w 10000"/>
                  <a:gd name="connsiteY0" fmla="*/ 0 h 9935"/>
                  <a:gd name="connsiteX1" fmla="*/ 10000 w 10000"/>
                  <a:gd name="connsiteY1" fmla="*/ 0 h 9935"/>
                  <a:gd name="connsiteX2" fmla="*/ 6809 w 10000"/>
                  <a:gd name="connsiteY2" fmla="*/ 9870 h 9935"/>
                  <a:gd name="connsiteX3" fmla="*/ 3191 w 10000"/>
                  <a:gd name="connsiteY3" fmla="*/ 9935 h 9935"/>
                  <a:gd name="connsiteX4" fmla="*/ 0 w 10000"/>
                  <a:gd name="connsiteY4" fmla="*/ 0 h 9935"/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6800 w 10000"/>
                  <a:gd name="connsiteY2" fmla="*/ 10000 h 10000"/>
                  <a:gd name="connsiteX3" fmla="*/ 3191 w 10000"/>
                  <a:gd name="connsiteY3" fmla="*/ 10000 h 10000"/>
                  <a:gd name="connsiteX4" fmla="*/ 0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6800" y="10000"/>
                    </a:lnTo>
                    <a:lnTo>
                      <a:pt x="3191" y="1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Блок-схема: ручное управление 8">
                <a:extLst>
                  <a:ext uri="{FF2B5EF4-FFF2-40B4-BE49-F238E27FC236}">
                    <a16:creationId xmlns:a16="http://schemas.microsoft.com/office/drawing/2014/main" id="{269E3B35-165C-4A4B-8D8A-DE272498CF24}"/>
                  </a:ext>
                </a:extLst>
              </p:cNvPr>
              <p:cNvSpPr/>
              <p:nvPr/>
            </p:nvSpPr>
            <p:spPr bwMode="auto">
              <a:xfrm flipH="1" flipV="1">
                <a:off x="692147" y="939165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Блок-схема: ручное управление 8">
                <a:extLst>
                  <a:ext uri="{FF2B5EF4-FFF2-40B4-BE49-F238E27FC236}">
                    <a16:creationId xmlns:a16="http://schemas.microsoft.com/office/drawing/2014/main" id="{4A0A0EF4-2217-4962-8D37-6039794B9F26}"/>
                  </a:ext>
                </a:extLst>
              </p:cNvPr>
              <p:cNvSpPr/>
              <p:nvPr/>
            </p:nvSpPr>
            <p:spPr bwMode="auto">
              <a:xfrm flipV="1">
                <a:off x="5071661" y="938933"/>
                <a:ext cx="3380194" cy="365943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2210 w 12210"/>
                  <a:gd name="connsiteY0" fmla="*/ 0 h 10000"/>
                  <a:gd name="connsiteX1" fmla="*/ 12210 w 12210"/>
                  <a:gd name="connsiteY1" fmla="*/ 0 h 10000"/>
                  <a:gd name="connsiteX2" fmla="*/ 10210 w 12210"/>
                  <a:gd name="connsiteY2" fmla="*/ 10000 h 10000"/>
                  <a:gd name="connsiteX3" fmla="*/ 0 w 12210"/>
                  <a:gd name="connsiteY3" fmla="*/ 9871 h 10000"/>
                  <a:gd name="connsiteX4" fmla="*/ 2210 w 12210"/>
                  <a:gd name="connsiteY4" fmla="*/ 0 h 10000"/>
                  <a:gd name="connsiteX0" fmla="*/ 2223 w 12223"/>
                  <a:gd name="connsiteY0" fmla="*/ 0 h 10000"/>
                  <a:gd name="connsiteX1" fmla="*/ 12223 w 12223"/>
                  <a:gd name="connsiteY1" fmla="*/ 0 h 10000"/>
                  <a:gd name="connsiteX2" fmla="*/ 10223 w 12223"/>
                  <a:gd name="connsiteY2" fmla="*/ 10000 h 10000"/>
                  <a:gd name="connsiteX3" fmla="*/ 0 w 12223"/>
                  <a:gd name="connsiteY3" fmla="*/ 9936 h 10000"/>
                  <a:gd name="connsiteX4" fmla="*/ 2223 w 12223"/>
                  <a:gd name="connsiteY4" fmla="*/ 0 h 10000"/>
                  <a:gd name="connsiteX0" fmla="*/ 2223 w 12223"/>
                  <a:gd name="connsiteY0" fmla="*/ 0 h 9936"/>
                  <a:gd name="connsiteX1" fmla="*/ 12223 w 12223"/>
                  <a:gd name="connsiteY1" fmla="*/ 0 h 9936"/>
                  <a:gd name="connsiteX2" fmla="*/ 4934 w 12223"/>
                  <a:gd name="connsiteY2" fmla="*/ 9935 h 9936"/>
                  <a:gd name="connsiteX3" fmla="*/ 0 w 12223"/>
                  <a:gd name="connsiteY3" fmla="*/ 9936 h 9936"/>
                  <a:gd name="connsiteX4" fmla="*/ 2223 w 12223"/>
                  <a:gd name="connsiteY4" fmla="*/ 0 h 9936"/>
                  <a:gd name="connsiteX0" fmla="*/ 2938 w 11119"/>
                  <a:gd name="connsiteY0" fmla="*/ 0 h 10065"/>
                  <a:gd name="connsiteX1" fmla="*/ 11119 w 11119"/>
                  <a:gd name="connsiteY1" fmla="*/ 0 h 10065"/>
                  <a:gd name="connsiteX2" fmla="*/ 5156 w 11119"/>
                  <a:gd name="connsiteY2" fmla="*/ 9999 h 10065"/>
                  <a:gd name="connsiteX3" fmla="*/ 0 w 11119"/>
                  <a:gd name="connsiteY3" fmla="*/ 10065 h 10065"/>
                  <a:gd name="connsiteX4" fmla="*/ 2938 w 11119"/>
                  <a:gd name="connsiteY4" fmla="*/ 0 h 10065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5140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  <a:gd name="connsiteX0" fmla="*/ 2922 w 11103"/>
                  <a:gd name="connsiteY0" fmla="*/ 0 h 10000"/>
                  <a:gd name="connsiteX1" fmla="*/ 11103 w 11103"/>
                  <a:gd name="connsiteY1" fmla="*/ 0 h 10000"/>
                  <a:gd name="connsiteX2" fmla="*/ 4287 w 11103"/>
                  <a:gd name="connsiteY2" fmla="*/ 9999 h 10000"/>
                  <a:gd name="connsiteX3" fmla="*/ 0 w 11103"/>
                  <a:gd name="connsiteY3" fmla="*/ 10000 h 10000"/>
                  <a:gd name="connsiteX4" fmla="*/ 2922 w 11103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03" h="10000">
                    <a:moveTo>
                      <a:pt x="2922" y="0"/>
                    </a:moveTo>
                    <a:lnTo>
                      <a:pt x="11103" y="0"/>
                    </a:lnTo>
                    <a:lnTo>
                      <a:pt x="4287" y="9999"/>
                    </a:lnTo>
                    <a:lnTo>
                      <a:pt x="0" y="10000"/>
                    </a:lnTo>
                    <a:lnTo>
                      <a:pt x="2922" y="0"/>
                    </a:lnTo>
                    <a:close/>
                  </a:path>
                </a:pathLst>
              </a:custGeom>
              <a:solidFill>
                <a:srgbClr val="E8E1D0"/>
              </a:solidFill>
              <a:ln w="9525">
                <a:solidFill>
                  <a:srgbClr val="A88C5E"/>
                </a:solidFill>
                <a:prstDash val="soli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0"/>
                  </a:spcBef>
                  <a:buClr>
                    <a:srgbClr val="2A4E9E"/>
                  </a:buClr>
                  <a:buSzPct val="100000"/>
                </a:pPr>
                <a:endParaRPr lang="ru-RU" sz="1100" dirty="0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C3DDA8D7-AE49-4298-B9ED-F9ACF7B1077F}"/>
                </a:ext>
              </a:extLst>
            </p:cNvPr>
            <p:cNvSpPr/>
            <p:nvPr/>
          </p:nvSpPr>
          <p:spPr>
            <a:xfrm>
              <a:off x="902112" y="1395146"/>
              <a:ext cx="1783519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Информационная база</a:t>
              </a:r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C579A364-4291-46BA-934C-A79D5F453C53}"/>
                </a:ext>
              </a:extLst>
            </p:cNvPr>
            <p:cNvSpPr/>
            <p:nvPr/>
          </p:nvSpPr>
          <p:spPr>
            <a:xfrm>
              <a:off x="3534827" y="1395146"/>
              <a:ext cx="2092818" cy="171348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 algn="ctr"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Расчетно-аналитический слой</a:t>
              </a:r>
            </a:p>
          </p:txBody>
        </p:sp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C00E4CD4-7DD7-4ACB-A3AA-549B74C013B1}"/>
                </a:ext>
              </a:extLst>
            </p:cNvPr>
            <p:cNvSpPr/>
            <p:nvPr/>
          </p:nvSpPr>
          <p:spPr>
            <a:xfrm>
              <a:off x="6477661" y="1391922"/>
              <a:ext cx="1911264" cy="222250"/>
            </a:xfrm>
            <a:prstGeom prst="rect">
              <a:avLst/>
            </a:prstGeom>
            <a:noFill/>
            <a:ln/>
          </p:spPr>
          <p:txBody>
            <a:bodyPr wrap="square" lIns="0" tIns="0" rIns="0" bIns="0" numCol="1" rtlCol="0" anchor="t">
              <a:noAutofit/>
            </a:bodyPr>
            <a:lstStyle/>
            <a:p>
              <a:pPr>
                <a:lnSpc>
                  <a:spcPct val="119000"/>
                </a:lnSpc>
              </a:pPr>
              <a:r>
                <a:rPr lang="ru-RU" sz="1000" dirty="0">
                  <a:latin typeface="+mn-lt"/>
                </a:rPr>
                <a:t>Пользовательские функции</a:t>
              </a:r>
            </a:p>
          </p:txBody>
        </p:sp>
      </p:grpSp>
      <p:sp>
        <p:nvSpPr>
          <p:cNvPr id="15" name="Text 3">
            <a:extLst>
              <a:ext uri="{FF2B5EF4-FFF2-40B4-BE49-F238E27FC236}">
                <a16:creationId xmlns:a16="http://schemas.microsoft.com/office/drawing/2014/main" id="{BF44771E-24BD-4703-B215-55B1D874AB23}"/>
              </a:ext>
            </a:extLst>
          </p:cNvPr>
          <p:cNvSpPr/>
          <p:nvPr/>
        </p:nvSpPr>
        <p:spPr>
          <a:xfrm>
            <a:off x="614807" y="1599790"/>
            <a:ext cx="2358128" cy="17847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объемы выпуска продукции по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ВЭД</a:t>
            </a:r>
            <a:r>
              <a:rPr lang="ru-RU" sz="800" b="0" dirty="0">
                <a:latin typeface="+mn-lt"/>
                <a:ea typeface="Source Sans 3" pitchFamily="34" charset="-122"/>
              </a:rPr>
              <a:t>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накопленные инвестиции в основной капитал;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численность населения;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накопленные денежные доходы населения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0FABB67-1FC3-4A65-A168-B459711815C5}"/>
              </a:ext>
            </a:extLst>
          </p:cNvPr>
          <p:cNvSpPr/>
          <p:nvPr/>
        </p:nvSpPr>
        <p:spPr>
          <a:xfrm>
            <a:off x="3307788" y="1599791"/>
            <a:ext cx="2579642" cy="1550568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формирование итогов по </a:t>
            </a:r>
            <a:r>
              <a:rPr lang="ru-RU" sz="800" b="0" dirty="0" err="1">
                <a:latin typeface="+mn-lt"/>
                <a:ea typeface="Source Sans 3" pitchFamily="34" charset="-122"/>
              </a:rPr>
              <a:t>ВЭД</a:t>
            </a:r>
            <a:r>
              <a:rPr lang="ru-RU" sz="800" b="0" dirty="0">
                <a:latin typeface="+mn-lt"/>
                <a:ea typeface="Source Sans 3" pitchFamily="34" charset="-122"/>
              </a:rPr>
              <a:t>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агрегирование показателей ФО до уровня РФ;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формирование итоговых показателей по промышленности и экономике в целом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656B010-1BBF-44E8-9E43-F4CD3243AD84}"/>
              </a:ext>
            </a:extLst>
          </p:cNvPr>
          <p:cNvSpPr/>
          <p:nvPr/>
        </p:nvSpPr>
        <p:spPr>
          <a:xfrm>
            <a:off x="6170068" y="1599791"/>
            <a:ext cx="2440531" cy="230545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>
            <a:noAutofit/>
          </a:bodyPr>
          <a:lstStyle/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поиск, фильтрация и выбор периода отображения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импорт и экспорт данных;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настройка округления показателей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endParaRPr lang="ru-RU" sz="800" b="0" dirty="0">
              <a:latin typeface="+mn-lt"/>
              <a:ea typeface="Source Sans 3" pitchFamily="34" charset="-122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436247B9-5E17-45EB-A82A-1637B623B4D6}"/>
              </a:ext>
            </a:extLst>
          </p:cNvPr>
          <p:cNvSpPr/>
          <p:nvPr/>
        </p:nvSpPr>
        <p:spPr>
          <a:xfrm>
            <a:off x="5200650" y="4551362"/>
            <a:ext cx="3809428" cy="444815"/>
          </a:xfrm>
          <a:prstGeom prst="roundRect">
            <a:avLst>
              <a:gd name="adj" fmla="val 7462"/>
            </a:avLst>
          </a:prstGeom>
          <a:solidFill>
            <a:srgbClr val="FDF6CF"/>
          </a:solidFill>
          <a:ln w="9525">
            <a:solidFill>
              <a:srgbClr val="EECC00"/>
            </a:solidFill>
            <a:prstDash val="solid"/>
          </a:ln>
          <a:effectLst/>
        </p:spPr>
        <p:txBody>
          <a:bodyPr anchor="ctr" anchorCtr="0">
            <a:noAutofit/>
          </a:bodyPr>
          <a:lstStyle/>
          <a:p>
            <a:endParaRPr lang="ru-RU" sz="800" b="0" dirty="0">
              <a:latin typeface="+mn-lt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BDDB744-03BB-4F26-82FA-71A4610EA10E}"/>
              </a:ext>
            </a:extLst>
          </p:cNvPr>
          <p:cNvSpPr/>
          <p:nvPr/>
        </p:nvSpPr>
        <p:spPr>
          <a:xfrm>
            <a:off x="5761656" y="4612683"/>
            <a:ext cx="3178174" cy="32318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 anchorCtr="0">
            <a:noAutofit/>
          </a:bodyPr>
          <a:lstStyle/>
          <a:p>
            <a:pPr>
              <a:lnSpc>
                <a:spcPct val="119000"/>
              </a:lnSpc>
            </a:pPr>
            <a:r>
              <a:rPr lang="ru-RU" sz="800" b="0" dirty="0">
                <a:latin typeface="+mn-lt"/>
                <a:ea typeface="Source Sans 3" pitchFamily="34" charset="-122"/>
              </a:rPr>
              <a:t>Передача данных в модули «Спрос» и «Долгосрочный прогноз потребления»</a:t>
            </a: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10DB696E-8B8C-4C76-B3B6-626D2E70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2835" y="4660712"/>
            <a:ext cx="268669" cy="268675"/>
          </a:xfrm>
          <a:prstGeom prst="rect">
            <a:avLst/>
          </a:prstGeom>
          <a:effectLst/>
        </p:spPr>
      </p:pic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A6421382-D342-4B42-B94F-20384894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68892"/>
            <a:ext cx="7617669" cy="763777"/>
          </a:xfrm>
        </p:spPr>
        <p:txBody>
          <a:bodyPr/>
          <a:lstStyle/>
          <a:p>
            <a:r>
              <a:rPr lang="ru-RU" spc="-10" dirty="0"/>
              <a:t>Модуль Характеристики территорий (возможности)</a:t>
            </a:r>
          </a:p>
        </p:txBody>
      </p:sp>
    </p:spTree>
    <p:extLst>
      <p:ext uri="{BB962C8B-B14F-4D97-AF65-F5344CB8AC3E}">
        <p14:creationId xmlns:p14="http://schemas.microsoft.com/office/powerpoint/2010/main" val="1154782516"/>
      </p:ext>
    </p:extLst>
  </p:cSld>
  <p:clrMapOvr>
    <a:masterClrMapping/>
  </p:clrMapOvr>
  <p:transition>
    <p:split orient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83DE9F-FB81-485D-A072-4B006241F9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29</a:t>
            </a:r>
            <a:endParaRPr lang="ru-RU"/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96B8402D-045A-4B15-87C2-312CCE25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68892"/>
            <a:ext cx="7617669" cy="763777"/>
          </a:xfrm>
        </p:spPr>
        <p:txBody>
          <a:bodyPr/>
          <a:lstStyle/>
          <a:p>
            <a:r>
              <a:rPr lang="ru-RU" dirty="0"/>
              <a:t>Оценка наполненности базы данных</a:t>
            </a:r>
          </a:p>
        </p:txBody>
      </p:sp>
      <p:sp>
        <p:nvSpPr>
          <p:cNvPr id="75" name="Text 3">
            <a:extLst>
              <a:ext uri="{FF2B5EF4-FFF2-40B4-BE49-F238E27FC236}">
                <a16:creationId xmlns:a16="http://schemas.microsoft.com/office/drawing/2014/main" id="{9337EC4D-9C53-4D5E-84EA-67FA53CB8E22}"/>
              </a:ext>
            </a:extLst>
          </p:cNvPr>
          <p:cNvSpPr/>
          <p:nvPr/>
        </p:nvSpPr>
        <p:spPr>
          <a:xfrm>
            <a:off x="348743" y="889239"/>
            <a:ext cx="8104695" cy="1927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800" b="0" dirty="0">
                <a:latin typeface="+mn-lt"/>
                <a:ea typeface="Source Sans 3" pitchFamily="34" charset="-122"/>
                <a:cs typeface="Source Sans 3" pitchFamily="34" charset="-120"/>
              </a:rPr>
              <a:t>Проведена количественная оценка наполненности двух рабочих версий базы данных: «ГС 2023–2042 (утвержденная)» и «СиПР 2026–2031 (рабочая)». Архивные версии в расчет не включались.</a:t>
            </a:r>
          </a:p>
          <a:p>
            <a:pPr>
              <a:lnSpc>
                <a:spcPct val="119000"/>
              </a:lnSpc>
            </a:pPr>
            <a:endParaRPr lang="ru-RU" sz="800" b="0" dirty="0">
              <a:latin typeface="+mn-lt"/>
              <a:ea typeface="Source Sans 3" pitchFamily="34" charset="-122"/>
              <a:cs typeface="Source Sans 3" pitchFamily="34" charset="-120"/>
            </a:endParaRPr>
          </a:p>
          <a:p>
            <a:pPr>
              <a:lnSpc>
                <a:spcPct val="119000"/>
              </a:lnSpc>
            </a:pPr>
            <a:r>
              <a:rPr lang="ru-RU" sz="800" b="0" dirty="0">
                <a:latin typeface="+mn-lt"/>
                <a:ea typeface="Source Sans 3" pitchFamily="34" charset="-122"/>
                <a:cs typeface="Source Sans 3" pitchFamily="34" charset="-120"/>
              </a:rPr>
              <a:t>При оценке не учитывались технические поля и неиспользуемые колонки. Для модуля «Топливо» оценивалась доля строк, содержащих хотя бы один числовой показатель, для остальных модулей – доля заполненных содержательных ячеек.</a:t>
            </a:r>
          </a:p>
          <a:p>
            <a:pPr>
              <a:lnSpc>
                <a:spcPct val="119000"/>
              </a:lnSpc>
            </a:pPr>
            <a:endParaRPr lang="ru-RU" sz="800" b="0" dirty="0">
              <a:latin typeface="+mn-lt"/>
              <a:ea typeface="Source Sans 3" pitchFamily="34" charset="-122"/>
              <a:cs typeface="Source Sans 3" pitchFamily="34" charset="-120"/>
            </a:endParaRPr>
          </a:p>
          <a:p>
            <a:pPr>
              <a:lnSpc>
                <a:spcPct val="119000"/>
              </a:lnSpc>
            </a:pPr>
            <a:r>
              <a:rPr lang="ru-RU" sz="800" b="0" dirty="0">
                <a:latin typeface="+mn-lt"/>
                <a:ea typeface="Source Sans 3" pitchFamily="34" charset="-122"/>
                <a:cs typeface="Source Sans 3" pitchFamily="34" charset="-120"/>
              </a:rPr>
              <a:t>Результаты оценки: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  <a:cs typeface="Source Sans 3" pitchFamily="34" charset="-120"/>
              </a:rPr>
              <a:t>данные </a:t>
            </a:r>
            <a:r>
              <a:rPr lang="ru-RU" sz="800" b="0" dirty="0">
                <a:latin typeface="+mn-lt"/>
                <a:ea typeface="Source Sans 3" pitchFamily="34" charset="-122"/>
              </a:rPr>
              <a:t>содержатся в 117 из 147 анализируемых таблиц;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наполненность строк модуля «Топливо» – 95,3 %;</a:t>
            </a:r>
          </a:p>
          <a:p>
            <a:pPr marL="171450" indent="-171450">
              <a:lnSpc>
                <a:spcPct val="119000"/>
              </a:lnSpc>
              <a:buFontTx/>
              <a:buChar char="►"/>
            </a:pPr>
            <a:r>
              <a:rPr lang="ru-RU" sz="800" b="0" dirty="0">
                <a:latin typeface="+mn-lt"/>
                <a:ea typeface="Source Sans 3" pitchFamily="34" charset="-122"/>
              </a:rPr>
              <a:t>наполненность </a:t>
            </a:r>
            <a:r>
              <a:rPr lang="ru-RU" sz="800" b="0" dirty="0">
                <a:latin typeface="+mn-lt"/>
                <a:ea typeface="Source Sans 3" pitchFamily="34" charset="-122"/>
                <a:cs typeface="Source Sans 3" pitchFamily="34" charset="-120"/>
              </a:rPr>
              <a:t>ячеек остальных модулей – 77,8%.</a:t>
            </a:r>
          </a:p>
          <a:p>
            <a:pPr>
              <a:lnSpc>
                <a:spcPct val="119000"/>
              </a:lnSpc>
            </a:pPr>
            <a:endParaRPr lang="ru-RU" sz="800" b="0" dirty="0">
              <a:latin typeface="+mn-lt"/>
              <a:ea typeface="Source Sans 3" pitchFamily="34" charset="-122"/>
              <a:cs typeface="Source Sans 3" pitchFamily="34" charset="-120"/>
            </a:endParaRPr>
          </a:p>
          <a:p>
            <a:pPr>
              <a:lnSpc>
                <a:spcPct val="119000"/>
              </a:lnSpc>
            </a:pPr>
            <a:r>
              <a:rPr lang="ru-RU" sz="1000" b="0" dirty="0">
                <a:latin typeface="+mn-lt"/>
                <a:ea typeface="Source Sans 3" pitchFamily="34" charset="-122"/>
                <a:cs typeface="Source Sans 3" pitchFamily="34" charset="-120"/>
              </a:rPr>
              <a:t>Значения по модулям:</a:t>
            </a:r>
          </a:p>
          <a:p>
            <a:pPr>
              <a:lnSpc>
                <a:spcPct val="119000"/>
              </a:lnSpc>
            </a:pPr>
            <a:endParaRPr lang="ru-RU" sz="800" b="0" dirty="0">
              <a:latin typeface="+mn-lt"/>
              <a:ea typeface="Source Sans 3" pitchFamily="34" charset="-122"/>
              <a:cs typeface="Source Sans 3" pitchFamily="34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261B3B5-F4E9-45C0-817A-7992B3B38B26}"/>
              </a:ext>
            </a:extLst>
          </p:cNvPr>
          <p:cNvSpPr/>
          <p:nvPr/>
        </p:nvSpPr>
        <p:spPr>
          <a:xfrm>
            <a:off x="348743" y="4630947"/>
            <a:ext cx="8183328" cy="351651"/>
          </a:xfrm>
          <a:prstGeom prst="roundRect">
            <a:avLst>
              <a:gd name="adj" fmla="val 7462"/>
            </a:avLst>
          </a:prstGeom>
          <a:solidFill>
            <a:srgbClr val="E8E1D0"/>
          </a:solidFill>
          <a:ln w="9525">
            <a:solidFill>
              <a:srgbClr val="A88C5E"/>
            </a:solidFill>
            <a:prstDash val="solid"/>
          </a:ln>
          <a:effectLst/>
        </p:spPr>
        <p:txBody>
          <a:bodyPr anchor="ctr" anchorCtr="0">
            <a:noAutofit/>
          </a:bodyPr>
          <a:lstStyle/>
          <a:p>
            <a:endParaRPr lang="ru-RU" sz="800" b="0" dirty="0">
              <a:latin typeface="+mn-lt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90E43E1-4666-4322-BBFE-A9D16A2DC23A}"/>
              </a:ext>
            </a:extLst>
          </p:cNvPr>
          <p:cNvSpPr/>
          <p:nvPr/>
        </p:nvSpPr>
        <p:spPr>
          <a:xfrm>
            <a:off x="564602" y="4667182"/>
            <a:ext cx="7967470" cy="279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800" b="0" dirty="0">
                <a:latin typeface="+mn-lt"/>
                <a:ea typeface="Source Sans 3" pitchFamily="34" charset="-122"/>
                <a:cs typeface="Source Sans 3" pitchFamily="34" charset="-120"/>
              </a:rPr>
              <a:t>Группировка выполнена по таблицам БД и не во всех случаях совпадает с пользовательским делением на модули. Показатели характеризуют техническую наполненность базы данных и не являются оценкой полноты, актуальности или качества содержащихся сведений</a:t>
            </a:r>
            <a:endParaRPr lang="ru-RU" sz="800" b="0" dirty="0">
              <a:solidFill>
                <a:srgbClr val="FF0000"/>
              </a:solidFill>
              <a:latin typeface="+mn-lt"/>
              <a:ea typeface="Source Sans 3" pitchFamily="34" charset="-122"/>
              <a:cs typeface="Source Sans 3" pitchFamily="34" charset="-12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03159EF3-1299-4D3E-8EE8-9C32A0FDCBA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7072" y="4695757"/>
            <a:ext cx="139200" cy="111423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9A1AC814-9031-4C99-A5D9-CE9A3BF32B8C}"/>
              </a:ext>
            </a:extLst>
          </p:cNvPr>
          <p:cNvSpPr/>
          <p:nvPr/>
        </p:nvSpPr>
        <p:spPr>
          <a:xfrm>
            <a:off x="693641" y="2958663"/>
            <a:ext cx="3002880" cy="139204"/>
          </a:xfrm>
          <a:prstGeom prst="roundRect">
            <a:avLst>
              <a:gd name="adj" fmla="val 33619"/>
            </a:avLst>
          </a:prstGeom>
          <a:solidFill>
            <a:srgbClr val="E6DFCC"/>
          </a:solidFill>
          <a:ln/>
        </p:spPr>
        <p:txBody>
          <a:bodyPr/>
          <a:p/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F2468F8-E229-443A-BBEA-C3A1CBA7178C}"/>
              </a:ext>
            </a:extLst>
          </p:cNvPr>
          <p:cNvSpPr/>
          <p:nvPr/>
        </p:nvSpPr>
        <p:spPr>
          <a:xfrm>
            <a:off x="693641" y="2958663"/>
            <a:ext cx="2909715" cy="139204"/>
          </a:xfrm>
          <a:prstGeom prst="roundRect">
            <a:avLst>
              <a:gd name="adj" fmla="val 33619"/>
            </a:avLst>
          </a:prstGeom>
          <a:solidFill>
            <a:srgbClr val="AF985D"/>
          </a:solidFill>
          <a:ln/>
        </p:spPr>
        <p:txBody>
          <a:bodyPr/>
          <a:p/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E7FD1E03-2AC2-44A4-9C4B-D2E7370E929B}"/>
              </a:ext>
            </a:extLst>
          </p:cNvPr>
          <p:cNvSpPr/>
          <p:nvPr/>
        </p:nvSpPr>
        <p:spPr>
          <a:xfrm>
            <a:off x="5172715" y="2958663"/>
            <a:ext cx="3008833" cy="144000"/>
          </a:xfrm>
          <a:prstGeom prst="roundRect">
            <a:avLst>
              <a:gd name="adj" fmla="val 33619"/>
            </a:avLst>
          </a:prstGeom>
          <a:solidFill>
            <a:srgbClr val="E6DFCC"/>
          </a:solidFill>
          <a:ln/>
        </p:spPr>
        <p:txBody>
          <a:bodyPr/>
          <a:p/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9CF5AF9-4382-4EE2-B96E-869469131074}"/>
              </a:ext>
            </a:extLst>
          </p:cNvPr>
          <p:cNvSpPr/>
          <p:nvPr/>
        </p:nvSpPr>
        <p:spPr>
          <a:xfrm>
            <a:off x="5172715" y="2958663"/>
            <a:ext cx="2876379" cy="144000"/>
          </a:xfrm>
          <a:prstGeom prst="roundRect">
            <a:avLst>
              <a:gd name="adj" fmla="val 33619"/>
            </a:avLst>
          </a:prstGeom>
          <a:solidFill>
            <a:srgbClr val="AF985D"/>
          </a:solidFill>
          <a:ln/>
        </p:spPr>
        <p:txBody>
          <a:bodyPr/>
          <a:p/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9AFDE3ED-F815-4C0E-B84C-6858FC5274AD}"/>
              </a:ext>
            </a:extLst>
          </p:cNvPr>
          <p:cNvSpPr/>
          <p:nvPr/>
        </p:nvSpPr>
        <p:spPr>
          <a:xfrm>
            <a:off x="691477" y="3528441"/>
            <a:ext cx="3010122" cy="139204"/>
          </a:xfrm>
          <a:prstGeom prst="roundRect">
            <a:avLst>
              <a:gd name="adj" fmla="val 33619"/>
            </a:avLst>
          </a:prstGeom>
          <a:solidFill>
            <a:srgbClr val="E6DFCC"/>
          </a:solidFill>
          <a:ln/>
        </p:spPr>
        <p:txBody>
          <a:bodyPr/>
          <a:p/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36E2F8E0-5EE3-401C-8EE1-BD151BD85E6D}"/>
              </a:ext>
            </a:extLst>
          </p:cNvPr>
          <p:cNvSpPr/>
          <p:nvPr/>
        </p:nvSpPr>
        <p:spPr>
          <a:xfrm>
            <a:off x="691476" y="3528441"/>
            <a:ext cx="2771011" cy="139204"/>
          </a:xfrm>
          <a:prstGeom prst="roundRect">
            <a:avLst>
              <a:gd name="adj" fmla="val 33619"/>
            </a:avLst>
          </a:prstGeom>
          <a:solidFill>
            <a:srgbClr val="AF985D"/>
          </a:solidFill>
          <a:ln/>
        </p:spPr>
        <p:txBody>
          <a:bodyPr/>
          <a:p/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820FBF83-62D5-494E-9FFC-61DB790F7122}"/>
              </a:ext>
            </a:extLst>
          </p:cNvPr>
          <p:cNvSpPr/>
          <p:nvPr/>
        </p:nvSpPr>
        <p:spPr>
          <a:xfrm>
            <a:off x="5172715" y="3230417"/>
            <a:ext cx="3003673" cy="144000"/>
          </a:xfrm>
          <a:prstGeom prst="roundRect">
            <a:avLst>
              <a:gd name="adj" fmla="val 33619"/>
            </a:avLst>
          </a:prstGeom>
          <a:solidFill>
            <a:srgbClr val="E6DFCC"/>
          </a:solidFill>
          <a:ln/>
        </p:spPr>
        <p:txBody>
          <a:bodyPr/>
          <a:p/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1F96E528-BA93-444B-8CEC-FFF377989BE0}"/>
              </a:ext>
            </a:extLst>
          </p:cNvPr>
          <p:cNvSpPr/>
          <p:nvPr/>
        </p:nvSpPr>
        <p:spPr>
          <a:xfrm>
            <a:off x="5172715" y="3230417"/>
            <a:ext cx="2718228" cy="144000"/>
          </a:xfrm>
          <a:prstGeom prst="roundRect">
            <a:avLst>
              <a:gd name="adj" fmla="val 33619"/>
            </a:avLst>
          </a:prstGeom>
          <a:solidFill>
            <a:srgbClr val="AF985D"/>
          </a:solidFill>
          <a:ln/>
        </p:spPr>
        <p:txBody>
          <a:bodyPr/>
          <a:p/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1D8E3B7D-C872-4E29-9060-09B108AE0FD6}"/>
              </a:ext>
            </a:extLst>
          </p:cNvPr>
          <p:cNvSpPr/>
          <p:nvPr/>
        </p:nvSpPr>
        <p:spPr>
          <a:xfrm>
            <a:off x="691476" y="3822654"/>
            <a:ext cx="3005045" cy="139204"/>
          </a:xfrm>
          <a:prstGeom prst="roundRect">
            <a:avLst>
              <a:gd name="adj" fmla="val 33619"/>
            </a:avLst>
          </a:prstGeom>
          <a:solidFill>
            <a:srgbClr val="E6DFCC"/>
          </a:solidFill>
          <a:ln/>
        </p:spPr>
        <p:txBody>
          <a:bodyPr/>
          <a:p/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BD39D4C3-1853-4537-BD45-B7289369C068}"/>
              </a:ext>
            </a:extLst>
          </p:cNvPr>
          <p:cNvSpPr/>
          <p:nvPr/>
        </p:nvSpPr>
        <p:spPr>
          <a:xfrm>
            <a:off x="691476" y="3822654"/>
            <a:ext cx="2623278" cy="139204"/>
          </a:xfrm>
          <a:prstGeom prst="roundRect">
            <a:avLst>
              <a:gd name="adj" fmla="val 33619"/>
            </a:avLst>
          </a:prstGeom>
          <a:solidFill>
            <a:srgbClr val="AF985D"/>
          </a:solidFill>
          <a:ln/>
        </p:spPr>
        <p:txBody>
          <a:bodyPr/>
          <a:p/>
        </p:txBody>
      </p:sp>
      <p:sp>
        <p:nvSpPr>
          <p:cNvPr id="19" name="Shape 26">
            <a:extLst>
              <a:ext uri="{FF2B5EF4-FFF2-40B4-BE49-F238E27FC236}">
                <a16:creationId xmlns:a16="http://schemas.microsoft.com/office/drawing/2014/main" id="{CC916524-1B99-4F70-B858-B7E20034C94F}"/>
              </a:ext>
            </a:extLst>
          </p:cNvPr>
          <p:cNvSpPr/>
          <p:nvPr/>
        </p:nvSpPr>
        <p:spPr>
          <a:xfrm>
            <a:off x="5172715" y="3528441"/>
            <a:ext cx="3003673" cy="144000"/>
          </a:xfrm>
          <a:prstGeom prst="roundRect">
            <a:avLst>
              <a:gd name="adj" fmla="val 33619"/>
            </a:avLst>
          </a:prstGeom>
          <a:solidFill>
            <a:srgbClr val="E6DFCC"/>
          </a:solidFill>
          <a:ln/>
        </p:spPr>
        <p:txBody>
          <a:bodyPr/>
          <a:p/>
        </p:txBody>
      </p:sp>
      <p:sp>
        <p:nvSpPr>
          <p:cNvPr id="20" name="Shape 27">
            <a:extLst>
              <a:ext uri="{FF2B5EF4-FFF2-40B4-BE49-F238E27FC236}">
                <a16:creationId xmlns:a16="http://schemas.microsoft.com/office/drawing/2014/main" id="{3C65CDDC-6A85-4874-A08B-71CD756AB997}"/>
              </a:ext>
            </a:extLst>
          </p:cNvPr>
          <p:cNvSpPr/>
          <p:nvPr/>
        </p:nvSpPr>
        <p:spPr>
          <a:xfrm>
            <a:off x="5172715" y="3528441"/>
            <a:ext cx="2438835" cy="144000"/>
          </a:xfrm>
          <a:prstGeom prst="roundRect">
            <a:avLst>
              <a:gd name="adj" fmla="val 33619"/>
            </a:avLst>
          </a:prstGeom>
          <a:solidFill>
            <a:srgbClr val="AF985D"/>
          </a:solidFill>
          <a:ln/>
        </p:spPr>
        <p:txBody>
          <a:bodyPr/>
          <a:p/>
        </p:txBody>
      </p:sp>
      <p:sp>
        <p:nvSpPr>
          <p:cNvPr id="21" name="Shape 30">
            <a:extLst>
              <a:ext uri="{FF2B5EF4-FFF2-40B4-BE49-F238E27FC236}">
                <a16:creationId xmlns:a16="http://schemas.microsoft.com/office/drawing/2014/main" id="{DAAC97F6-1078-47C8-8014-18511EF81B20}"/>
              </a:ext>
            </a:extLst>
          </p:cNvPr>
          <p:cNvSpPr/>
          <p:nvPr/>
        </p:nvSpPr>
        <p:spPr>
          <a:xfrm>
            <a:off x="691476" y="4088564"/>
            <a:ext cx="3005045" cy="139204"/>
          </a:xfrm>
          <a:prstGeom prst="roundRect">
            <a:avLst>
              <a:gd name="adj" fmla="val 33619"/>
            </a:avLst>
          </a:prstGeom>
          <a:solidFill>
            <a:srgbClr val="E6DFCC"/>
          </a:solidFill>
          <a:ln/>
        </p:spPr>
        <p:txBody>
          <a:bodyPr/>
          <a:p/>
        </p:txBody>
      </p:sp>
      <p:sp>
        <p:nvSpPr>
          <p:cNvPr id="22" name="Shape 31">
            <a:extLst>
              <a:ext uri="{FF2B5EF4-FFF2-40B4-BE49-F238E27FC236}">
                <a16:creationId xmlns:a16="http://schemas.microsoft.com/office/drawing/2014/main" id="{A75D3410-637E-4710-A746-DF46015613CA}"/>
              </a:ext>
            </a:extLst>
          </p:cNvPr>
          <p:cNvSpPr/>
          <p:nvPr/>
        </p:nvSpPr>
        <p:spPr>
          <a:xfrm>
            <a:off x="691476" y="4088564"/>
            <a:ext cx="2060989" cy="139204"/>
          </a:xfrm>
          <a:prstGeom prst="roundRect">
            <a:avLst>
              <a:gd name="adj" fmla="val 33619"/>
            </a:avLst>
          </a:prstGeom>
          <a:solidFill>
            <a:srgbClr val="AF985D"/>
          </a:solidFill>
          <a:ln/>
        </p:spPr>
        <p:txBody>
          <a:bodyPr/>
          <a:p/>
        </p:txBody>
      </p:sp>
      <p:sp>
        <p:nvSpPr>
          <p:cNvPr id="23" name="Shape 34">
            <a:extLst>
              <a:ext uri="{FF2B5EF4-FFF2-40B4-BE49-F238E27FC236}">
                <a16:creationId xmlns:a16="http://schemas.microsoft.com/office/drawing/2014/main" id="{152C306C-AB87-4C83-A31E-B4FE1FDB764F}"/>
              </a:ext>
            </a:extLst>
          </p:cNvPr>
          <p:cNvSpPr/>
          <p:nvPr/>
        </p:nvSpPr>
        <p:spPr>
          <a:xfrm>
            <a:off x="5172715" y="3822654"/>
            <a:ext cx="3003673" cy="144000"/>
          </a:xfrm>
          <a:prstGeom prst="roundRect">
            <a:avLst>
              <a:gd name="adj" fmla="val 33619"/>
            </a:avLst>
          </a:prstGeom>
          <a:solidFill>
            <a:srgbClr val="E6DFCC"/>
          </a:solidFill>
          <a:ln/>
        </p:spPr>
        <p:txBody>
          <a:bodyPr/>
          <a:p/>
        </p:txBody>
      </p:sp>
      <p:sp>
        <p:nvSpPr>
          <p:cNvPr id="24" name="Shape 35">
            <a:extLst>
              <a:ext uri="{FF2B5EF4-FFF2-40B4-BE49-F238E27FC236}">
                <a16:creationId xmlns:a16="http://schemas.microsoft.com/office/drawing/2014/main" id="{B398F03E-5F2F-49A4-A01D-EDF0F5ECB9D7}"/>
              </a:ext>
            </a:extLst>
          </p:cNvPr>
          <p:cNvSpPr/>
          <p:nvPr/>
        </p:nvSpPr>
        <p:spPr>
          <a:xfrm>
            <a:off x="5172715" y="3822654"/>
            <a:ext cx="1878325" cy="144000"/>
          </a:xfrm>
          <a:prstGeom prst="roundRect">
            <a:avLst>
              <a:gd name="adj" fmla="val 33619"/>
            </a:avLst>
          </a:prstGeom>
          <a:solidFill>
            <a:srgbClr val="AF985D"/>
          </a:solidFill>
          <a:ln/>
        </p:spPr>
        <p:txBody>
          <a:bodyPr/>
          <a:p/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8D0DDF59-8BDF-4322-BFF2-731C93991B5F}"/>
              </a:ext>
            </a:extLst>
          </p:cNvPr>
          <p:cNvSpPr/>
          <p:nvPr/>
        </p:nvSpPr>
        <p:spPr>
          <a:xfrm>
            <a:off x="3725677" y="2983232"/>
            <a:ext cx="168316" cy="89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9</a:t>
            </a:r>
            <a:r>
              <a:rPr lang="ru-RU" sz="700" b="0" dirty="0">
                <a:latin typeface="+mn-lt"/>
                <a:ea typeface="Lora" pitchFamily="34" charset="-122"/>
                <a:cs typeface="Lora" pitchFamily="34" charset="-120"/>
              </a:rPr>
              <a:t>7</a:t>
            </a: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%</a:t>
            </a:r>
            <a:endParaRPr lang="en-US" sz="700" b="0" dirty="0">
              <a:latin typeface="+mn-lt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B0BF945F-18F2-44AB-9EF4-86CAAD05F04B}"/>
              </a:ext>
            </a:extLst>
          </p:cNvPr>
          <p:cNvSpPr/>
          <p:nvPr/>
        </p:nvSpPr>
        <p:spPr>
          <a:xfrm>
            <a:off x="387023" y="2836606"/>
            <a:ext cx="753411" cy="10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Электроемкость</a:t>
            </a:r>
            <a:endParaRPr lang="en-US" sz="700" b="0" dirty="0">
              <a:latin typeface="+mn-lt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88B636F-02F6-4628-80F2-103C4D62483F}"/>
              </a:ext>
            </a:extLst>
          </p:cNvPr>
          <p:cNvSpPr/>
          <p:nvPr/>
        </p:nvSpPr>
        <p:spPr>
          <a:xfrm>
            <a:off x="8203628" y="2983232"/>
            <a:ext cx="168316" cy="89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95%</a:t>
            </a:r>
            <a:endParaRPr lang="en-US" sz="700" b="0" dirty="0">
              <a:latin typeface="+mn-lt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AA1041B9-1EF2-47A7-B6CA-06FE428544D7}"/>
              </a:ext>
            </a:extLst>
          </p:cNvPr>
          <p:cNvSpPr/>
          <p:nvPr/>
        </p:nvSpPr>
        <p:spPr>
          <a:xfrm>
            <a:off x="4861049" y="2834330"/>
            <a:ext cx="415178" cy="10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Экология</a:t>
            </a:r>
            <a:endParaRPr lang="en-US" sz="700" b="0" dirty="0">
              <a:latin typeface="+mn-lt"/>
            </a:endParaRPr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B96FF4AA-6629-4704-B49B-76491D656802}"/>
              </a:ext>
            </a:extLst>
          </p:cNvPr>
          <p:cNvSpPr/>
          <p:nvPr/>
        </p:nvSpPr>
        <p:spPr>
          <a:xfrm>
            <a:off x="3725086" y="3549033"/>
            <a:ext cx="168316" cy="8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91%</a:t>
            </a:r>
            <a:endParaRPr lang="en-US" sz="700" b="0" dirty="0">
              <a:latin typeface="+mn-lt"/>
            </a:endParaRPr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D2B31B7B-CEFA-48DC-9C78-3B4294175085}"/>
              </a:ext>
            </a:extLst>
          </p:cNvPr>
          <p:cNvSpPr/>
          <p:nvPr/>
        </p:nvSpPr>
        <p:spPr>
          <a:xfrm>
            <a:off x="387023" y="3398141"/>
            <a:ext cx="1746696" cy="103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Потребление электрической энергии</a:t>
            </a:r>
            <a:endParaRPr lang="en-US" sz="700" b="0" dirty="0">
              <a:latin typeface="+mn-lt"/>
            </a:endParaRPr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66BC0E3F-A2AE-4886-B60D-086770273CD0}"/>
              </a:ext>
            </a:extLst>
          </p:cNvPr>
          <p:cNvSpPr/>
          <p:nvPr/>
        </p:nvSpPr>
        <p:spPr>
          <a:xfrm>
            <a:off x="8203628" y="3549032"/>
            <a:ext cx="168316" cy="89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9</a:t>
            </a:r>
            <a:r>
              <a:rPr lang="ru-RU" sz="700" b="0" dirty="0">
                <a:latin typeface="+mn-lt"/>
                <a:ea typeface="Lora" pitchFamily="34" charset="-122"/>
                <a:cs typeface="Lora" pitchFamily="34" charset="-120"/>
              </a:rPr>
              <a:t>1</a:t>
            </a: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%</a:t>
            </a:r>
            <a:endParaRPr lang="en-US" sz="700" b="0" dirty="0">
              <a:latin typeface="+mn-lt"/>
            </a:endParaRPr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53ACA9EA-95AB-4AC9-BB9E-DA093472D3B8}"/>
              </a:ext>
            </a:extLst>
          </p:cNvPr>
          <p:cNvSpPr/>
          <p:nvPr/>
        </p:nvSpPr>
        <p:spPr>
          <a:xfrm>
            <a:off x="4861049" y="3117722"/>
            <a:ext cx="530594" cy="10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Экономика</a:t>
            </a:r>
            <a:endParaRPr lang="en-US" sz="700" b="0" dirty="0">
              <a:latin typeface="+mn-lt"/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93E8AA83-2EBC-435F-A9FF-01E64F8CA82E}"/>
              </a:ext>
            </a:extLst>
          </p:cNvPr>
          <p:cNvSpPr/>
          <p:nvPr/>
        </p:nvSpPr>
        <p:spPr>
          <a:xfrm>
            <a:off x="3733590" y="3842706"/>
            <a:ext cx="168316" cy="89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87%</a:t>
            </a:r>
            <a:endParaRPr lang="en-US" sz="700" b="0" dirty="0">
              <a:latin typeface="+mn-lt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A4E48878-0398-4821-8D00-939DF53A3B12}"/>
              </a:ext>
            </a:extLst>
          </p:cNvPr>
          <p:cNvSpPr/>
          <p:nvPr/>
        </p:nvSpPr>
        <p:spPr>
          <a:xfrm>
            <a:off x="387023" y="3695948"/>
            <a:ext cx="487313" cy="10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Генерация</a:t>
            </a:r>
            <a:endParaRPr lang="en-US" sz="700" b="0" dirty="0">
              <a:latin typeface="+mn-lt"/>
            </a:endParaRP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7CB9CE34-9697-4219-B268-B273C2307395}"/>
              </a:ext>
            </a:extLst>
          </p:cNvPr>
          <p:cNvSpPr/>
          <p:nvPr/>
        </p:nvSpPr>
        <p:spPr>
          <a:xfrm>
            <a:off x="8203628" y="3258406"/>
            <a:ext cx="168316" cy="89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8</a:t>
            </a:r>
            <a:r>
              <a:rPr lang="ru-RU" sz="700" b="0" dirty="0">
                <a:latin typeface="+mn-lt"/>
                <a:ea typeface="Lora" pitchFamily="34" charset="-122"/>
                <a:cs typeface="Lora" pitchFamily="34" charset="-120"/>
              </a:rPr>
              <a:t>1</a:t>
            </a: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%</a:t>
            </a:r>
            <a:endParaRPr lang="en-US" sz="700" b="0" dirty="0">
              <a:latin typeface="+mn-lt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DD21F2DA-C5FA-439D-88D1-F0B1708CAC8F}"/>
              </a:ext>
            </a:extLst>
          </p:cNvPr>
          <p:cNvSpPr/>
          <p:nvPr/>
        </p:nvSpPr>
        <p:spPr>
          <a:xfrm>
            <a:off x="4860243" y="3394300"/>
            <a:ext cx="601127" cy="10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Справочники</a:t>
            </a:r>
            <a:endParaRPr lang="en-US" sz="700" b="0" dirty="0">
              <a:latin typeface="+mn-lt"/>
            </a:endParaRPr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010E2436-5D10-4AC5-8BE9-F8793A25C119}"/>
              </a:ext>
            </a:extLst>
          </p:cNvPr>
          <p:cNvSpPr/>
          <p:nvPr/>
        </p:nvSpPr>
        <p:spPr>
          <a:xfrm>
            <a:off x="3725086" y="4112329"/>
            <a:ext cx="168316" cy="89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6</a:t>
            </a:r>
            <a:r>
              <a:rPr lang="ru-RU" sz="700" b="0" dirty="0">
                <a:latin typeface="+mn-lt"/>
                <a:ea typeface="Lora" pitchFamily="34" charset="-122"/>
                <a:cs typeface="Lora" pitchFamily="34" charset="-120"/>
              </a:rPr>
              <a:t>7</a:t>
            </a: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%</a:t>
            </a:r>
            <a:endParaRPr lang="en-US" sz="700" b="0" dirty="0">
              <a:latin typeface="+mn-lt"/>
            </a:endParaRP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6780BD49-E2F0-4632-807E-D3A0CD44CCF9}"/>
              </a:ext>
            </a:extLst>
          </p:cNvPr>
          <p:cNvSpPr/>
          <p:nvPr/>
        </p:nvSpPr>
        <p:spPr>
          <a:xfrm>
            <a:off x="4860243" y="3693593"/>
            <a:ext cx="806311" cy="10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Спрос и нагрузки</a:t>
            </a:r>
            <a:endParaRPr lang="en-US" sz="700" b="0" dirty="0">
              <a:latin typeface="+mn-lt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824A68DF-AC64-415B-80B8-5890089BDDDF}"/>
              </a:ext>
            </a:extLst>
          </p:cNvPr>
          <p:cNvSpPr/>
          <p:nvPr/>
        </p:nvSpPr>
        <p:spPr>
          <a:xfrm>
            <a:off x="8203628" y="3847564"/>
            <a:ext cx="168316" cy="89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ru-RU" sz="700" b="0" dirty="0">
                <a:latin typeface="+mn-lt"/>
                <a:ea typeface="Lora" pitchFamily="34" charset="-122"/>
                <a:cs typeface="Lora" pitchFamily="34" charset="-120"/>
              </a:rPr>
              <a:t>59</a:t>
            </a: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%</a:t>
            </a:r>
            <a:endParaRPr lang="en-US" sz="700" b="0" dirty="0">
              <a:latin typeface="+mn-lt"/>
            </a:endParaRP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D02D8B78-C22D-45BB-9587-1FF54199E372}"/>
              </a:ext>
            </a:extLst>
          </p:cNvPr>
          <p:cNvSpPr/>
          <p:nvPr/>
        </p:nvSpPr>
        <p:spPr>
          <a:xfrm>
            <a:off x="387023" y="3976994"/>
            <a:ext cx="394339" cy="10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Балансы</a:t>
            </a:r>
            <a:endParaRPr lang="en-US" sz="700" b="0" dirty="0">
              <a:latin typeface="+mn-lt"/>
            </a:endParaRPr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EBF3C3EA-A807-43A8-8BBA-0EF7E51BDE0A}"/>
              </a:ext>
            </a:extLst>
          </p:cNvPr>
          <p:cNvSpPr/>
          <p:nvPr/>
        </p:nvSpPr>
        <p:spPr>
          <a:xfrm>
            <a:off x="693641" y="3230417"/>
            <a:ext cx="3002880" cy="139204"/>
          </a:xfrm>
          <a:prstGeom prst="roundRect">
            <a:avLst>
              <a:gd name="adj" fmla="val 33619"/>
            </a:avLst>
          </a:prstGeom>
          <a:solidFill>
            <a:srgbClr val="E6DFCC"/>
          </a:solidFill>
          <a:ln/>
        </p:spPr>
        <p:txBody>
          <a:bodyPr/>
          <a:p/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3AAD3A80-60C8-4B09-A0C4-0AA421F637BB}"/>
              </a:ext>
            </a:extLst>
          </p:cNvPr>
          <p:cNvSpPr/>
          <p:nvPr/>
        </p:nvSpPr>
        <p:spPr>
          <a:xfrm>
            <a:off x="693641" y="3230417"/>
            <a:ext cx="2909715" cy="139204"/>
          </a:xfrm>
          <a:prstGeom prst="roundRect">
            <a:avLst>
              <a:gd name="adj" fmla="val 33619"/>
            </a:avLst>
          </a:prstGeom>
          <a:solidFill>
            <a:srgbClr val="AF985D"/>
          </a:solidFill>
          <a:ln/>
        </p:spPr>
        <p:txBody>
          <a:bodyPr/>
          <a:p/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663FC55F-B8EF-4726-8B81-FB65B193F19F}"/>
              </a:ext>
            </a:extLst>
          </p:cNvPr>
          <p:cNvSpPr/>
          <p:nvPr/>
        </p:nvSpPr>
        <p:spPr>
          <a:xfrm>
            <a:off x="3725677" y="3249814"/>
            <a:ext cx="282129" cy="89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9</a:t>
            </a:r>
            <a:r>
              <a:rPr lang="ru-RU" sz="700" b="0" dirty="0">
                <a:latin typeface="+mn-lt"/>
                <a:ea typeface="Lora" pitchFamily="34" charset="-122"/>
                <a:cs typeface="Lora" pitchFamily="34" charset="-120"/>
              </a:rPr>
              <a:t>5,3</a:t>
            </a:r>
            <a:r>
              <a:rPr lang="en-US" sz="700" b="0" dirty="0">
                <a:latin typeface="+mn-lt"/>
                <a:ea typeface="Lora" pitchFamily="34" charset="-122"/>
                <a:cs typeface="Lora" pitchFamily="34" charset="-120"/>
              </a:rPr>
              <a:t>%</a:t>
            </a:r>
            <a:r>
              <a:rPr lang="ru-RU" sz="700" b="0" dirty="0">
                <a:latin typeface="+mn-lt"/>
                <a:ea typeface="Lora" pitchFamily="34" charset="-122"/>
                <a:cs typeface="Lora" pitchFamily="34" charset="-120"/>
              </a:rPr>
              <a:t>*</a:t>
            </a:r>
            <a:endParaRPr lang="en-US" sz="700" b="0" dirty="0">
              <a:latin typeface="+mn-lt"/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21503764-18D4-4104-915E-90700DB859CE}"/>
              </a:ext>
            </a:extLst>
          </p:cNvPr>
          <p:cNvSpPr/>
          <p:nvPr/>
        </p:nvSpPr>
        <p:spPr>
          <a:xfrm>
            <a:off x="387023" y="3123244"/>
            <a:ext cx="357470" cy="10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700" b="0" dirty="0">
                <a:latin typeface="+mn-lt"/>
                <a:ea typeface="Lora" pitchFamily="34" charset="-122"/>
                <a:cs typeface="Lora" pitchFamily="34" charset="-120"/>
              </a:rPr>
              <a:t>Топливо</a:t>
            </a:r>
            <a:endParaRPr lang="en-US" sz="700" b="0" dirty="0">
              <a:latin typeface="+mn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C5E10B-49D6-4709-9B32-F31F6A2EEAFF}"/>
              </a:ext>
            </a:extLst>
          </p:cNvPr>
          <p:cNvSpPr txBox="1"/>
          <p:nvPr/>
        </p:nvSpPr>
        <p:spPr>
          <a:xfrm>
            <a:off x="348743" y="4396306"/>
            <a:ext cx="8183327" cy="99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defPPr>
              <a:defRPr lang="ru-RU"/>
            </a:defPPr>
            <a:lvl1pPr>
              <a:lnSpc>
                <a:spcPct val="119000"/>
              </a:lnSpc>
              <a:defRPr sz="800" b="0">
                <a:latin typeface="+mn-lt"/>
                <a:ea typeface="Source Sans 3" pitchFamily="34" charset="-122"/>
                <a:cs typeface="Source Sans 3" pitchFamily="34" charset="-120"/>
              </a:defRPr>
            </a:lvl1pPr>
          </a:lstStyle>
          <a:p>
            <a:r>
              <a:rPr lang="ru-RU" sz="600" dirty="0"/>
              <a:t>*Для Топлива применяется отдельный критерий: строка считается наполненной при наличии хотя бы одного числового показателя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2" y="818269"/>
            <a:ext cx="1872000" cy="288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096254260"/>
      </p:ext>
    </p:extLst>
  </p:cSld>
  <p:clrMapOvr>
    <a:masterClrMapping/>
  </p:clrMapOvr>
  <p:transition>
    <p:split orient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 descr="preencoded.png">
            <a:extLst>
              <a:ext uri="{FF2B5EF4-FFF2-40B4-BE49-F238E27FC236}">
                <a16:creationId xmlns:a16="http://schemas.microsoft.com/office/drawing/2014/main" id="{842ED2F4-EF6D-40AE-8023-DEA5B749DCD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4857" y="1412332"/>
            <a:ext cx="4209194" cy="486299"/>
          </a:xfrm>
          <a:prstGeom prst="rect">
            <a:avLst/>
          </a:prstGeom>
        </p:spPr>
      </p:pic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08274AB3-DAAB-4356-BE87-86ED278B0A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9067" y="1973113"/>
            <a:ext cx="4209194" cy="486299"/>
          </a:xfrm>
          <a:prstGeom prst="rect">
            <a:avLst/>
          </a:prstGeom>
        </p:spPr>
      </p:pic>
      <p:pic>
        <p:nvPicPr>
          <p:cNvPr id="55" name="Image 0" descr="preencoded.png">
            <a:extLst>
              <a:ext uri="{FF2B5EF4-FFF2-40B4-BE49-F238E27FC236}">
                <a16:creationId xmlns:a16="http://schemas.microsoft.com/office/drawing/2014/main" id="{576803F4-3C92-4564-A66F-A84EC53D7F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9067" y="857368"/>
            <a:ext cx="4209194" cy="482324"/>
          </a:xfrm>
          <a:prstGeom prst="rect">
            <a:avLst/>
          </a:prstGeom>
        </p:spPr>
      </p:pic>
      <p:pic>
        <p:nvPicPr>
          <p:cNvPr id="53" name="Image 0" descr="preencoded.png">
            <a:extLst>
              <a:ext uri="{FF2B5EF4-FFF2-40B4-BE49-F238E27FC236}">
                <a16:creationId xmlns:a16="http://schemas.microsoft.com/office/drawing/2014/main" id="{6AC04881-0247-45C4-8636-728E00C9109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646" y="1552748"/>
            <a:ext cx="4209194" cy="449162"/>
          </a:xfrm>
          <a:prstGeom prst="rect">
            <a:avLst/>
          </a:prstGeom>
        </p:spPr>
      </p:pic>
      <p:pic>
        <p:nvPicPr>
          <p:cNvPr id="54" name="Image 0" descr="preencoded.png">
            <a:extLst>
              <a:ext uri="{FF2B5EF4-FFF2-40B4-BE49-F238E27FC236}">
                <a16:creationId xmlns:a16="http://schemas.microsoft.com/office/drawing/2014/main" id="{67EB8BBC-93D4-45A6-8655-A0DAD5B738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646" y="2051357"/>
            <a:ext cx="4209194" cy="41285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0F5AA9-8129-4395-A12F-1BC446E110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r>
              <a:rPr sz="1200">
                <a:solidFill>
                  <a:srgbClr val="666666"/>
                </a:solidFill>
                <a:latin typeface="Century Gothic"/>
              </a:rPr>
              <a:t>30</a:t>
            </a:r>
            <a:endParaRPr lang="ru-RU" dirty="0"/>
          </a:p>
        </p:txBody>
      </p:sp>
      <p:sp>
        <p:nvSpPr>
          <p:cNvPr id="25" name="Заголовок 3">
            <a:extLst>
              <a:ext uri="{FF2B5EF4-FFF2-40B4-BE49-F238E27FC236}">
                <a16:creationId xmlns:a16="http://schemas.microsoft.com/office/drawing/2014/main" id="{88C5FA7D-DB26-48FF-BD5A-BE30C430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68892"/>
            <a:ext cx="7617669" cy="763777"/>
          </a:xfrm>
        </p:spPr>
        <p:txBody>
          <a:bodyPr/>
          <a:lstStyle/>
          <a:p>
            <a:r>
              <a:rPr lang="ru-RU" dirty="0"/>
              <a:t>Итоги Этапа 1 (2026)</a:t>
            </a: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61F0BD86-892F-4DE8-BA19-00209FC633A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646" y="857849"/>
            <a:ext cx="4209194" cy="639564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8545586B-0855-4CAE-81E6-03820DC8A7F5}"/>
              </a:ext>
            </a:extLst>
          </p:cNvPr>
          <p:cNvSpPr/>
          <p:nvPr/>
        </p:nvSpPr>
        <p:spPr>
          <a:xfrm>
            <a:off x="349115" y="937758"/>
            <a:ext cx="4085726" cy="478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Сформирована единая информационная среда для ведения основных данных, используемых при подготовке документов перспективного развития</a:t>
            </a: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55284291-C313-4A48-B1D5-90BF2181D899}"/>
              </a:ext>
            </a:extLst>
          </p:cNvPr>
          <p:cNvSpPr/>
          <p:nvPr/>
        </p:nvSpPr>
        <p:spPr>
          <a:xfrm>
            <a:off x="4828066" y="937758"/>
            <a:ext cx="3966819" cy="31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Реализованы расчетные блоки для формирования и проверки ключевых показателей</a:t>
            </a: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5F58BC5E-F9CC-42E5-B059-1AC05BA374C5}"/>
              </a:ext>
            </a:extLst>
          </p:cNvPr>
          <p:cNvSpPr/>
          <p:nvPr/>
        </p:nvSpPr>
        <p:spPr>
          <a:xfrm>
            <a:off x="349115" y="1622961"/>
            <a:ext cx="4001943" cy="31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Обеспечено сквозное использование данных между функциональными модулями</a:t>
            </a: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C6598C5B-189A-4615-B73B-AB89123B61AD}"/>
              </a:ext>
            </a:extLst>
          </p:cNvPr>
          <p:cNvSpPr/>
          <p:nvPr/>
        </p:nvSpPr>
        <p:spPr>
          <a:xfrm>
            <a:off x="4828066" y="1486845"/>
            <a:ext cx="3974032" cy="31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Создан механизм работы с самостоятельными версиями БД и вариантами расчетного периметра</a:t>
            </a: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F916BE7-9DE9-4D22-BDB5-DF191CABE867}"/>
              </a:ext>
            </a:extLst>
          </p:cNvPr>
          <p:cNvSpPr/>
          <p:nvPr/>
        </p:nvSpPr>
        <p:spPr>
          <a:xfrm>
            <a:off x="349115" y="2095528"/>
            <a:ext cx="4001943" cy="31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АРМ наполняется фактическими </a:t>
            </a:r>
            <a:r>
              <a:rPr lang="ru-RU" sz="900" dirty="0">
                <a:latin typeface="+mn-lt"/>
                <a:ea typeface="Source Sans 3" pitchFamily="34" charset="-122"/>
              </a:rPr>
              <a:t>рабочими данными и используется сотрудниками подразделения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117C6E78-623D-4F93-BB1F-C2D26115B0E3}"/>
              </a:ext>
            </a:extLst>
          </p:cNvPr>
          <p:cNvSpPr/>
          <p:nvPr/>
        </p:nvSpPr>
        <p:spPr>
          <a:xfrm>
            <a:off x="4828066" y="2055716"/>
            <a:ext cx="3974032" cy="31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Формируется база для перехода к практическому использованию реализованных модулей с 2027 года</a:t>
            </a:r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9D01A40A-4005-4E08-B802-2185EA191D70}"/>
              </a:ext>
            </a:extLst>
          </p:cNvPr>
          <p:cNvSpPr/>
          <p:nvPr/>
        </p:nvSpPr>
        <p:spPr>
          <a:xfrm>
            <a:off x="225646" y="3673688"/>
            <a:ext cx="7200000" cy="19050"/>
          </a:xfrm>
          <a:prstGeom prst="roundRect">
            <a:avLst>
              <a:gd name="adj" fmla="val 49999"/>
            </a:avLst>
          </a:prstGeom>
          <a:solidFill>
            <a:srgbClr val="B7DEB0"/>
          </a:solidFill>
          <a:ln/>
        </p:spPr>
        <p:txBody>
          <a:bodyPr/>
          <a:p/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6A7D8523-D21B-4901-BB7D-D3ED6B0A8F5E}"/>
              </a:ext>
            </a:extLst>
          </p:cNvPr>
          <p:cNvSpPr/>
          <p:nvPr/>
        </p:nvSpPr>
        <p:spPr>
          <a:xfrm>
            <a:off x="1384765" y="3284751"/>
            <a:ext cx="19050" cy="388938"/>
          </a:xfrm>
          <a:prstGeom prst="roundRect">
            <a:avLst>
              <a:gd name="adj" fmla="val 49999"/>
            </a:avLst>
          </a:prstGeom>
          <a:solidFill>
            <a:srgbClr val="B7DEB0"/>
          </a:solidFill>
          <a:ln/>
        </p:spPr>
        <p:txBody>
          <a:bodyPr/>
          <a:p/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DB671B70-2D14-477F-BB38-B96A0F5B7E96}"/>
              </a:ext>
            </a:extLst>
          </p:cNvPr>
          <p:cNvSpPr/>
          <p:nvPr/>
        </p:nvSpPr>
        <p:spPr>
          <a:xfrm>
            <a:off x="1248442" y="3527837"/>
            <a:ext cx="291696" cy="291703"/>
          </a:xfrm>
          <a:prstGeom prst="roundRect">
            <a:avLst>
              <a:gd name="adj" fmla="val 18669"/>
            </a:avLst>
          </a:prstGeom>
          <a:solidFill>
            <a:srgbClr val="B7DEB0"/>
          </a:solidFill>
          <a:ln/>
        </p:spPr>
        <p:txBody>
          <a:bodyPr/>
          <a:p/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F37E1BCD-3276-4460-B102-3DC5A6B2F6EA}"/>
              </a:ext>
            </a:extLst>
          </p:cNvPr>
          <p:cNvSpPr/>
          <p:nvPr/>
        </p:nvSpPr>
        <p:spPr>
          <a:xfrm>
            <a:off x="1302813" y="3559289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400" dirty="0">
                <a:latin typeface="+mn-lt"/>
                <a:ea typeface="Lora" pitchFamily="34" charset="-122"/>
                <a:cs typeface="Lora" pitchFamily="34" charset="-120"/>
              </a:rPr>
              <a:t>1</a:t>
            </a:r>
            <a:endParaRPr lang="ru-RU" sz="1400" dirty="0">
              <a:latin typeface="+mn-lt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517880E7-38F7-4870-9994-5DF350352449}"/>
              </a:ext>
            </a:extLst>
          </p:cNvPr>
          <p:cNvSpPr/>
          <p:nvPr/>
        </p:nvSpPr>
        <p:spPr>
          <a:xfrm>
            <a:off x="979430" y="2582531"/>
            <a:ext cx="810670" cy="14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Этап I (2024)</a:t>
            </a: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E97ECE16-4D98-4F39-A835-7B25D1016B64}"/>
              </a:ext>
            </a:extLst>
          </p:cNvPr>
          <p:cNvSpPr/>
          <p:nvPr/>
        </p:nvSpPr>
        <p:spPr>
          <a:xfrm>
            <a:off x="51692" y="2796698"/>
            <a:ext cx="2811792" cy="478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Формирование методологической основы: усовершенствование методических положений и определение назначения системы</a:t>
            </a:r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00D31DAD-00D8-4EB3-8C1B-56593D1B2A7E}"/>
              </a:ext>
            </a:extLst>
          </p:cNvPr>
          <p:cNvSpPr/>
          <p:nvPr/>
        </p:nvSpPr>
        <p:spPr>
          <a:xfrm>
            <a:off x="3482294" y="3673688"/>
            <a:ext cx="19050" cy="388938"/>
          </a:xfrm>
          <a:prstGeom prst="roundRect">
            <a:avLst>
              <a:gd name="adj" fmla="val 49999"/>
            </a:avLst>
          </a:prstGeom>
          <a:solidFill>
            <a:srgbClr val="B7DEB0"/>
          </a:solidFill>
          <a:ln/>
        </p:spPr>
        <p:txBody>
          <a:bodyPr/>
          <a:p/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869031C6-AFA4-4CC9-9F90-17A635EC8CCA}"/>
              </a:ext>
            </a:extLst>
          </p:cNvPr>
          <p:cNvSpPr/>
          <p:nvPr/>
        </p:nvSpPr>
        <p:spPr>
          <a:xfrm>
            <a:off x="3345971" y="3527837"/>
            <a:ext cx="291696" cy="291703"/>
          </a:xfrm>
          <a:prstGeom prst="roundRect">
            <a:avLst>
              <a:gd name="adj" fmla="val 18669"/>
            </a:avLst>
          </a:prstGeom>
          <a:solidFill>
            <a:srgbClr val="B7DEB0"/>
          </a:solidFill>
          <a:ln/>
        </p:spPr>
        <p:txBody>
          <a:bodyPr/>
          <a:p/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5ECF5DD-3E9F-4EF6-AD7A-7CD412A17C2D}"/>
              </a:ext>
            </a:extLst>
          </p:cNvPr>
          <p:cNvSpPr/>
          <p:nvPr/>
        </p:nvSpPr>
        <p:spPr>
          <a:xfrm>
            <a:off x="3400342" y="3559289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400" dirty="0">
                <a:latin typeface="+mn-lt"/>
                <a:ea typeface="Lora" pitchFamily="34" charset="-122"/>
                <a:cs typeface="Lora" pitchFamily="34" charset="-120"/>
              </a:rPr>
              <a:t>2</a:t>
            </a:r>
            <a:endParaRPr lang="ru-RU" sz="1400" dirty="0">
              <a:latin typeface="+mn-lt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21626578-78C7-4741-B98C-DCD707EDD4C4}"/>
              </a:ext>
            </a:extLst>
          </p:cNvPr>
          <p:cNvSpPr/>
          <p:nvPr/>
        </p:nvSpPr>
        <p:spPr>
          <a:xfrm>
            <a:off x="3096009" y="4102421"/>
            <a:ext cx="810670" cy="14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Этап II (2025)</a:t>
            </a: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C4FE0AF-D4DC-4463-B699-955C349F4EDA}"/>
              </a:ext>
            </a:extLst>
          </p:cNvPr>
          <p:cNvSpPr/>
          <p:nvPr/>
        </p:nvSpPr>
        <p:spPr>
          <a:xfrm>
            <a:off x="1932790" y="4313268"/>
            <a:ext cx="3118057" cy="478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Проектирование функциональной модели и архитектуры данных: определение состава основных блоков и создание структуры базы данных</a:t>
            </a:r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AAD0A089-F66F-4617-BE4D-B767250BE41A}"/>
              </a:ext>
            </a:extLst>
          </p:cNvPr>
          <p:cNvSpPr/>
          <p:nvPr/>
        </p:nvSpPr>
        <p:spPr>
          <a:xfrm>
            <a:off x="5662473" y="3284751"/>
            <a:ext cx="19050" cy="388938"/>
          </a:xfrm>
          <a:prstGeom prst="roundRect">
            <a:avLst>
              <a:gd name="adj" fmla="val 49999"/>
            </a:avLst>
          </a:prstGeom>
          <a:solidFill>
            <a:srgbClr val="B7DEB0"/>
          </a:solidFill>
          <a:ln/>
        </p:spPr>
        <p:txBody>
          <a:bodyPr/>
          <a:p/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5B41A54F-EA42-49EC-88D6-1C2836DE275C}"/>
              </a:ext>
            </a:extLst>
          </p:cNvPr>
          <p:cNvSpPr/>
          <p:nvPr/>
        </p:nvSpPr>
        <p:spPr>
          <a:xfrm>
            <a:off x="5526150" y="3527837"/>
            <a:ext cx="291696" cy="291703"/>
          </a:xfrm>
          <a:prstGeom prst="roundRect">
            <a:avLst>
              <a:gd name="adj" fmla="val 18669"/>
            </a:avLst>
          </a:prstGeom>
          <a:solidFill>
            <a:srgbClr val="B7DEB0"/>
          </a:solidFill>
          <a:ln/>
        </p:spPr>
        <p:txBody>
          <a:bodyPr/>
          <a:p/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5876FF2B-DB9D-4684-BD90-CD94B954A2BB}"/>
              </a:ext>
            </a:extLst>
          </p:cNvPr>
          <p:cNvSpPr/>
          <p:nvPr/>
        </p:nvSpPr>
        <p:spPr>
          <a:xfrm>
            <a:off x="5580520" y="3559289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400" dirty="0">
                <a:latin typeface="+mn-lt"/>
                <a:ea typeface="Lora" pitchFamily="34" charset="-122"/>
                <a:cs typeface="Lora" pitchFamily="34" charset="-120"/>
              </a:rPr>
              <a:t>3</a:t>
            </a:r>
            <a:endParaRPr lang="ru-RU" sz="1400" dirty="0">
              <a:latin typeface="+mn-lt"/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D58F2AD6-B377-413C-99D9-C923645687B9}"/>
              </a:ext>
            </a:extLst>
          </p:cNvPr>
          <p:cNvSpPr/>
          <p:nvPr/>
        </p:nvSpPr>
        <p:spPr>
          <a:xfrm>
            <a:off x="5257137" y="2592451"/>
            <a:ext cx="810671" cy="14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Этап III (2026)</a:t>
            </a: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11E7C01C-F21D-4DF1-8E5B-C962432142A3}"/>
              </a:ext>
            </a:extLst>
          </p:cNvPr>
          <p:cNvSpPr/>
          <p:nvPr/>
        </p:nvSpPr>
        <p:spPr>
          <a:xfrm>
            <a:off x="4256575" y="2792436"/>
            <a:ext cx="2811793" cy="478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Создание базового функционального ядра, реализация основных модулей, загрузка рабочих данных и проверка расчетной логики</a:t>
            </a:r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91F15DD6-D405-4149-BFD7-DB8549D32DE6}"/>
              </a:ext>
            </a:extLst>
          </p:cNvPr>
          <p:cNvSpPr/>
          <p:nvPr/>
        </p:nvSpPr>
        <p:spPr>
          <a:xfrm>
            <a:off x="7842651" y="3673688"/>
            <a:ext cx="19050" cy="388938"/>
          </a:xfrm>
          <a:prstGeom prst="roundRect">
            <a:avLst>
              <a:gd name="adj" fmla="val 49999"/>
            </a:avLst>
          </a:prstGeom>
          <a:solidFill>
            <a:srgbClr val="FFCF9F"/>
          </a:solidFill>
          <a:ln/>
        </p:spPr>
        <p:txBody>
          <a:bodyPr/>
          <a:p/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74F7084E-088C-4779-A503-8BF5E2ED5272}"/>
              </a:ext>
            </a:extLst>
          </p:cNvPr>
          <p:cNvSpPr/>
          <p:nvPr/>
        </p:nvSpPr>
        <p:spPr>
          <a:xfrm>
            <a:off x="7412301" y="4142148"/>
            <a:ext cx="879747" cy="14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Этап IV (2027)</a:t>
            </a:r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EE0824FC-4E98-4F3F-ADD6-6C058CF92F7A}"/>
              </a:ext>
            </a:extLst>
          </p:cNvPr>
          <p:cNvSpPr/>
          <p:nvPr/>
        </p:nvSpPr>
        <p:spPr>
          <a:xfrm>
            <a:off x="6451600" y="4328759"/>
            <a:ext cx="2651426" cy="80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9000"/>
              </a:lnSpc>
            </a:pPr>
            <a:r>
              <a:rPr lang="ru-RU" sz="900" b="0" dirty="0">
                <a:latin typeface="+mn-lt"/>
                <a:ea typeface="Source Sans 3" pitchFamily="34" charset="-122"/>
              </a:rPr>
              <a:t>Переход от базового функционального ядра к полной расчетно-аналитической системе: расширение функционала, повышение автоматизации и оптимизация работы с данными</a:t>
            </a:r>
          </a:p>
        </p:txBody>
      </p:sp>
      <p:sp>
        <p:nvSpPr>
          <p:cNvPr id="58" name="Shape 8">
            <a:extLst>
              <a:ext uri="{FF2B5EF4-FFF2-40B4-BE49-F238E27FC236}">
                <a16:creationId xmlns:a16="http://schemas.microsoft.com/office/drawing/2014/main" id="{6D09B0E8-455F-4CEB-9C6E-558034EC571B}"/>
              </a:ext>
            </a:extLst>
          </p:cNvPr>
          <p:cNvSpPr/>
          <p:nvPr/>
        </p:nvSpPr>
        <p:spPr>
          <a:xfrm>
            <a:off x="7029646" y="3675273"/>
            <a:ext cx="1800000" cy="19050"/>
          </a:xfrm>
          <a:prstGeom prst="roundRect">
            <a:avLst>
              <a:gd name="adj" fmla="val 49999"/>
            </a:avLst>
          </a:prstGeom>
          <a:solidFill>
            <a:srgbClr val="FFCF9F"/>
          </a:solidFill>
          <a:ln/>
        </p:spPr>
        <p:txBody>
          <a:bodyPr/>
          <a:p/>
        </p:txBody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006EDE6D-2D87-4FC0-AB53-6ABDF2A630A7}"/>
              </a:ext>
            </a:extLst>
          </p:cNvPr>
          <p:cNvSpPr/>
          <p:nvPr/>
        </p:nvSpPr>
        <p:spPr>
          <a:xfrm>
            <a:off x="7706328" y="3527837"/>
            <a:ext cx="291696" cy="291703"/>
          </a:xfrm>
          <a:prstGeom prst="roundRect">
            <a:avLst>
              <a:gd name="adj" fmla="val 18669"/>
            </a:avLst>
          </a:prstGeom>
          <a:solidFill>
            <a:srgbClr val="FFCF9F"/>
          </a:solidFill>
          <a:ln/>
        </p:spPr>
        <p:txBody>
          <a:bodyPr/>
          <a:p/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4DACB3C5-B193-4FB5-91CF-01A4B37A94FD}"/>
              </a:ext>
            </a:extLst>
          </p:cNvPr>
          <p:cNvSpPr/>
          <p:nvPr/>
        </p:nvSpPr>
        <p:spPr>
          <a:xfrm>
            <a:off x="7760698" y="3559289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1400" dirty="0">
                <a:latin typeface="+mn-lt"/>
                <a:ea typeface="Lora" pitchFamily="34" charset="-122"/>
                <a:cs typeface="Lora" pitchFamily="34" charset="-120"/>
              </a:rPr>
              <a:t>4</a:t>
            </a:r>
            <a:endParaRPr lang="ru-RU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4093058"/>
      </p:ext>
    </p:extLst>
  </p:cSld>
  <p:clrMapOvr>
    <a:masterClrMapping/>
  </p:clrMapOvr>
  <p:transition>
    <p:split orient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81BC4B1-5C62-B405-DC98-82791071B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A81AA1BF-319E-D232-B1F0-65763AE84A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 sz="1400">
                <a:solidFill>
                  <a:srgbClr val="FFFFFF"/>
                </a:solidFill>
                <a:latin typeface="Century Gothic"/>
              </a:rPr>
              <a:t>АО «НТЦ ЕЭС» · НИО-10</a:t>
            </a:r>
          </a:p>
          <a:p>
            <a:r>
              <a:rPr sz="1400">
                <a:solidFill>
                  <a:srgbClr val="FFFFFF"/>
                </a:solidFill>
                <a:latin typeface="Century Gothic"/>
              </a:rPr>
              <a:t>АРМ «Генеральная схема» · Этап 1 ·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0D7DF3-8F82-E1F0-6608-8548669D5ED9}"/>
              </a:ext>
            </a:extLst>
          </p:cNvPr>
          <p:cNvSpPr txBox="1"/>
          <p:nvPr/>
        </p:nvSpPr>
        <p:spPr>
          <a:xfrm>
            <a:off x="6029498" y="3162954"/>
            <a:ext cx="18772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0" u="none" strike="noStrike" baseline="0" dirty="0">
                <a:solidFill>
                  <a:srgbClr val="DBC2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https://t.me/so_ups_official</a:t>
            </a:r>
          </a:p>
          <a:p>
            <a:pPr algn="r"/>
            <a:r>
              <a:rPr lang="ru-RU" sz="1000" i="0" u="none" strike="noStrike" baseline="0" dirty="0">
                <a:solidFill>
                  <a:srgbClr val="DBC2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Официальный </a:t>
            </a:r>
            <a:br>
              <a:rPr lang="ru-RU" sz="1000" i="0" u="none" strike="noStrike" baseline="0" dirty="0">
                <a:solidFill>
                  <a:srgbClr val="DBC2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</a:br>
            <a:r>
              <a:rPr lang="ru-RU" sz="1000" i="0" u="none" strike="noStrike" baseline="0" dirty="0" err="1">
                <a:solidFill>
                  <a:srgbClr val="DBC2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телеграм</a:t>
            </a:r>
            <a:r>
              <a:rPr lang="ru-RU" sz="1000" i="0" u="none" strike="noStrike" baseline="0" dirty="0">
                <a:solidFill>
                  <a:srgbClr val="DBC2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-канал</a:t>
            </a:r>
            <a:endParaRPr lang="ru-RU" sz="1000" dirty="0">
              <a:solidFill>
                <a:srgbClr val="DBC27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283E20-ACFE-4D41-025B-45908D513BE6}"/>
              </a:ext>
            </a:extLst>
          </p:cNvPr>
          <p:cNvSpPr txBox="1"/>
          <p:nvPr/>
        </p:nvSpPr>
        <p:spPr>
          <a:xfrm>
            <a:off x="3876981" y="3162954"/>
            <a:ext cx="12139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0" u="none" strike="noStrike" baseline="0" dirty="0">
                <a:solidFill>
                  <a:srgbClr val="DBC2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www.ntcees.ru</a:t>
            </a:r>
          </a:p>
          <a:p>
            <a:pPr algn="r"/>
            <a:r>
              <a:rPr lang="ru-RU" sz="1000" i="0" u="none" strike="noStrike" baseline="0" dirty="0">
                <a:solidFill>
                  <a:srgbClr val="DBC2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Официальный сайт</a:t>
            </a:r>
            <a:endParaRPr lang="ru-RU" sz="1000" dirty="0">
              <a:solidFill>
                <a:srgbClr val="DBC27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E88B2C8E-6811-0E6D-8073-28C76AFF478F}"/>
              </a:ext>
            </a:extLst>
          </p:cNvPr>
          <p:cNvGrpSpPr/>
          <p:nvPr/>
        </p:nvGrpSpPr>
        <p:grpSpPr>
          <a:xfrm>
            <a:off x="5131231" y="3062065"/>
            <a:ext cx="755776" cy="755776"/>
            <a:chOff x="5131231" y="3062065"/>
            <a:chExt cx="755776" cy="755776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3644CCB5-0CB9-8C09-CB9B-6B169325711C}"/>
                </a:ext>
              </a:extLst>
            </p:cNvPr>
            <p:cNvSpPr/>
            <p:nvPr/>
          </p:nvSpPr>
          <p:spPr bwMode="auto">
            <a:xfrm>
              <a:off x="5131231" y="3062065"/>
              <a:ext cx="755776" cy="755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prstDash val="soli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0"/>
                </a:spcBef>
                <a:buClr>
                  <a:srgbClr val="2A4E9E"/>
                </a:buClr>
                <a:buSzPct val="100000"/>
              </a:pPr>
              <a:endParaRPr lang="ru-RU" sz="1100" dirty="0">
                <a:latin typeface="Century Gothic" panose="020B0502020202020204" pitchFamily="34" charset="0"/>
              </a:endParaRPr>
            </a:p>
          </p:txBody>
        </p:sp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3C7C2994-E6B2-CA19-320C-82F6942D8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73921" y="3104755"/>
              <a:ext cx="670394" cy="670394"/>
            </a:xfrm>
            <a:prstGeom prst="rect">
              <a:avLst/>
            </a:prstGeom>
          </p:spPr>
        </p:pic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9032A7CE-BC7D-EBB3-B63E-FCBD26F4BD15}"/>
              </a:ext>
            </a:extLst>
          </p:cNvPr>
          <p:cNvGrpSpPr/>
          <p:nvPr/>
        </p:nvGrpSpPr>
        <p:grpSpPr>
          <a:xfrm>
            <a:off x="7931782" y="3062065"/>
            <a:ext cx="755776" cy="755776"/>
            <a:chOff x="7931782" y="3062065"/>
            <a:chExt cx="755776" cy="755776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C37D01E7-F373-A5AE-39A8-F13B18514874}"/>
                </a:ext>
              </a:extLst>
            </p:cNvPr>
            <p:cNvSpPr/>
            <p:nvPr/>
          </p:nvSpPr>
          <p:spPr bwMode="auto">
            <a:xfrm>
              <a:off x="7931782" y="3062065"/>
              <a:ext cx="755776" cy="755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prstDash val="soli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0"/>
                </a:spcBef>
                <a:buClr>
                  <a:srgbClr val="2A4E9E"/>
                </a:buClr>
                <a:buSzPct val="100000"/>
              </a:pPr>
              <a:endParaRPr lang="ru-RU" sz="1100" dirty="0">
                <a:latin typeface="Century Gothic" panose="020B0502020202020204" pitchFamily="34" charset="0"/>
              </a:endParaRPr>
            </a:p>
          </p:txBody>
        </p:sp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CCDE704B-A81B-5212-5B83-4960D28C4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76670" y="3106953"/>
              <a:ext cx="666000" cy="66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4835149"/>
      </p:ext>
    </p:extLst>
  </p:cSld>
  <p:clrMapOvr>
    <a:masterClrMapping/>
  </p:clrMapOvr>
  <p:transition>
    <p:split orient="vert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00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125999"/>
            <a:ext cx="846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entury Gothic"/>
              </a:rPr>
              <a:t>Этап 1: контур реализованных модулей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558000"/>
            <a:ext cx="2700000" cy="32400"/>
          </a:xfrm>
          <a:prstGeom prst="rect">
            <a:avLst/>
          </a:prstGeom>
          <a:solidFill>
            <a:srgbClr val="00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8000" y="720000"/>
            <a:ext cx="2826000" cy="12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06000" y="845999"/>
            <a:ext cx="251999" cy="251999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864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B8A"/>
                </a:solidFill>
                <a:latin typeface="Century Gothic"/>
              </a:rPr>
              <a:t>Инфраструктура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999" y="1188000"/>
            <a:ext cx="2556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999" y="1296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версии БД, роли, журналы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49999" y="720000"/>
            <a:ext cx="2826000" cy="1260000"/>
          </a:xfrm>
          <a:prstGeom prst="roundRect">
            <a:avLst>
              <a:gd name="adj" fmla="val 10000"/>
            </a:avLst>
          </a:prstGeom>
          <a:solidFill>
            <a:srgbClr val="E8F4F3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57999" y="845999"/>
            <a:ext cx="251999" cy="251999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9999" y="864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B8A"/>
                </a:solidFill>
                <a:latin typeface="Century Gothic"/>
              </a:rPr>
              <a:t>Справочники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5998" y="1188000"/>
            <a:ext cx="2556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5998" y="1296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территории, топлива, НСИ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1998" y="720000"/>
            <a:ext cx="2826000" cy="12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09998" y="845999"/>
            <a:ext cx="251999" cy="251999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1998" y="864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B8A"/>
                </a:solidFill>
                <a:latin typeface="Century Gothic"/>
              </a:rPr>
              <a:t>Генерация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997" y="1188000"/>
            <a:ext cx="2556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997" y="1296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станции, агрегаты, площадки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8000" y="2106000"/>
            <a:ext cx="2826000" cy="1260000"/>
          </a:xfrm>
          <a:prstGeom prst="roundRect">
            <a:avLst>
              <a:gd name="adj" fmla="val 10000"/>
            </a:avLst>
          </a:prstGeom>
          <a:solidFill>
            <a:srgbClr val="E8F4F3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6000" y="2231999"/>
            <a:ext cx="251999" cy="251999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" y="2250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B8A"/>
                </a:solidFill>
                <a:latin typeface="Century Gothic"/>
              </a:rPr>
              <a:t>Нагрузки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3999" y="2574000"/>
            <a:ext cx="2556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999" y="2682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потребление, максимумы, коэфф.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9999" y="2106000"/>
            <a:ext cx="2826000" cy="12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57999" y="2231999"/>
            <a:ext cx="251999" cy="251999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9999" y="2250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B8A"/>
                </a:solidFill>
                <a:latin typeface="Century Gothic"/>
              </a:rPr>
              <a:t>Спрос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5998" y="2574000"/>
            <a:ext cx="2556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5998" y="2682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объемы, приросты, ГАЭС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01998" y="2106000"/>
            <a:ext cx="2826000" cy="1260000"/>
          </a:xfrm>
          <a:prstGeom prst="roundRect">
            <a:avLst>
              <a:gd name="adj" fmla="val 10000"/>
            </a:avLst>
          </a:prstGeom>
          <a:solidFill>
            <a:srgbClr val="E8F4F3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09998" y="2231999"/>
            <a:ext cx="251999" cy="251999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1998" y="2250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B8A"/>
                </a:solidFill>
                <a:latin typeface="Century Gothic"/>
              </a:rPr>
              <a:t>Балансы ЭЭ/ЭМ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7997" y="2574000"/>
            <a:ext cx="2556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7997" y="2682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выработка, своды, передача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8000" y="3492000"/>
            <a:ext cx="2826000" cy="12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6000" y="3617999"/>
            <a:ext cx="251999" cy="251999"/>
          </a:xfrm>
          <a:prstGeom prst="ellipse">
            <a:avLst/>
          </a:prstGeom>
          <a:solidFill>
            <a:srgbClr val="006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000" y="3636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B8A"/>
                </a:solidFill>
                <a:latin typeface="Century Gothic"/>
              </a:rPr>
              <a:t>Топливо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3999" y="3960000"/>
            <a:ext cx="2556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99" y="4068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группы, расчет, итоги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49999" y="3492000"/>
            <a:ext cx="2826000" cy="1260000"/>
          </a:xfrm>
          <a:prstGeom prst="roundRect">
            <a:avLst>
              <a:gd name="adj" fmla="val 10000"/>
            </a:avLst>
          </a:prstGeom>
          <a:solidFill>
            <a:srgbClr val="E8F4F3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57999" y="3617999"/>
            <a:ext cx="251999" cy="251999"/>
          </a:xfrm>
          <a:prstGeom prst="ellipse">
            <a:avLst/>
          </a:prstGeom>
          <a:solidFill>
            <a:srgbClr val="006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99" y="3636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B8A"/>
                </a:solidFill>
                <a:latin typeface="Century Gothic"/>
              </a:rPr>
              <a:t>Электроемкость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75998" y="3960000"/>
            <a:ext cx="2556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75998" y="4068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ФО, ВЭД, экономика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01998" y="3492000"/>
            <a:ext cx="2826000" cy="12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09998" y="3617999"/>
            <a:ext cx="251999" cy="251999"/>
          </a:xfrm>
          <a:prstGeom prst="ellipse">
            <a:avLst/>
          </a:prstGeom>
          <a:solidFill>
            <a:srgbClr val="006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1998" y="3636000"/>
            <a:ext cx="223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B8A"/>
                </a:solidFill>
                <a:latin typeface="Century Gothic"/>
              </a:rPr>
              <a:t>Документы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27997" y="3960000"/>
            <a:ext cx="2556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27997" y="4068000"/>
            <a:ext cx="25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JSON / выходные формы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00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125999"/>
            <a:ext cx="846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entury Gothic"/>
              </a:rPr>
              <a:t>Инфраструктура АРМ: версии, роли, журналы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558000"/>
            <a:ext cx="2700000" cy="32400"/>
          </a:xfrm>
          <a:prstGeom prst="rect">
            <a:avLst/>
          </a:prstGeom>
          <a:solidFill>
            <a:srgbClr val="00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2000" y="702000"/>
            <a:ext cx="2862000" cy="42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792000"/>
            <a:ext cx="251999" cy="251999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000" y="810000"/>
            <a:ext cx="23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B8A"/>
                </a:solidFill>
                <a:latin typeface="Century Gothic"/>
              </a:rPr>
              <a:t>Версии базы данных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000" y="1044000"/>
            <a:ext cx="2628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400" y="1094399"/>
            <a:ext cx="2689200" cy="3247200"/>
          </a:xfrm>
          <a:prstGeom prst="roundRect">
            <a:avLst>
              <a:gd name="adj" fmla="val 6000"/>
            </a:avLst>
          </a:prstGeom>
          <a:solidFill>
            <a:srgbClr val="D0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db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0" y="1115999"/>
            <a:ext cx="2646000" cy="320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0000" y="4410000"/>
            <a:ext cx="264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entury Gothic"/>
              </a:rPr>
              <a:t>Выбор рабочей версии и изолированная работа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32000" y="702000"/>
            <a:ext cx="2862000" cy="42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22000" y="792000"/>
            <a:ext cx="251999" cy="251999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8000" y="810000"/>
            <a:ext cx="23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B8A"/>
                </a:solidFill>
                <a:latin typeface="Century Gothic"/>
              </a:rPr>
              <a:t>Пользователи и роли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0" y="1044000"/>
            <a:ext cx="2628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18400" y="1094399"/>
            <a:ext cx="2689200" cy="3247200"/>
          </a:xfrm>
          <a:prstGeom prst="roundRect">
            <a:avLst>
              <a:gd name="adj" fmla="val 6000"/>
            </a:avLst>
          </a:prstGeom>
          <a:solidFill>
            <a:srgbClr val="D0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c_users_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0" y="1115999"/>
            <a:ext cx="2646000" cy="320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40000" y="4410000"/>
            <a:ext cx="264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entury Gothic"/>
              </a:rPr>
              <a:t>Админ, гость, админ/редактор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2000" y="702000"/>
            <a:ext cx="2862000" cy="42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92000" y="792000"/>
            <a:ext cx="251999" cy="251999"/>
          </a:xfrm>
          <a:prstGeom prst="ellipse">
            <a:avLst/>
          </a:prstGeom>
          <a:solidFill>
            <a:srgbClr val="006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8000" y="810000"/>
            <a:ext cx="230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B8A"/>
                </a:solidFill>
                <a:latin typeface="Century Gothic"/>
              </a:rPr>
              <a:t>Журналы действий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0000" y="1044000"/>
            <a:ext cx="2628000" cy="25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8400" y="1094399"/>
            <a:ext cx="2689200" cy="3247200"/>
          </a:xfrm>
          <a:prstGeom prst="roundRect">
            <a:avLst>
              <a:gd name="adj" fmla="val 6000"/>
            </a:avLst>
          </a:prstGeom>
          <a:solidFill>
            <a:srgbClr val="D0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2b_user_action_l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000" y="1115999"/>
            <a:ext cx="2646000" cy="3204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0000" y="4410000"/>
            <a:ext cx="264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entury Gothic"/>
              </a:rPr>
              <a:t>Вход, загрузка, правки – прослеживаемость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125999"/>
            <a:ext cx="846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entury Gothic"/>
              </a:rPr>
              <a:t>Генерация: изменения УМ, перспективные площадки, 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558000"/>
            <a:ext cx="2700000" cy="324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000" y="684000"/>
            <a:ext cx="4374000" cy="20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000" y="7380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8A"/>
                </a:solidFill>
                <a:latin typeface="Century Gothic"/>
              </a:rPr>
              <a:t>Изменения УМ ЕГО</a:t>
            </a:r>
          </a:p>
        </p:txBody>
      </p:sp>
      <p:pic>
        <p:nvPicPr>
          <p:cNvPr id="7" name="Picture 6" descr="05f_station_power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00" y="918000"/>
            <a:ext cx="4194000" cy="1764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626000" y="684000"/>
            <a:ext cx="4374000" cy="20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4000" y="7380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8A"/>
                </a:solidFill>
                <a:latin typeface="Century Gothic"/>
              </a:rPr>
              <a:t>Перспективные АЭС</a:t>
            </a:r>
          </a:p>
        </p:txBody>
      </p:sp>
      <p:pic>
        <p:nvPicPr>
          <p:cNvPr id="10" name="Picture 9" descr="05h_prospective_places_a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00" y="918000"/>
            <a:ext cx="4194000" cy="176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44000" y="2880000"/>
            <a:ext cx="4374000" cy="20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000" y="29340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8A"/>
                </a:solidFill>
                <a:latin typeface="Century Gothic"/>
              </a:rPr>
              <a:t>Перспективные ГЭС</a:t>
            </a:r>
          </a:p>
        </p:txBody>
      </p:sp>
      <p:pic>
        <p:nvPicPr>
          <p:cNvPr id="13" name="Picture 12" descr="05g_prospective_places_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00" y="3114000"/>
            <a:ext cx="4194000" cy="176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626000" y="2880000"/>
            <a:ext cx="4374000" cy="20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4000" y="29340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8A"/>
                </a:solidFill>
                <a:latin typeface="Century Gothic"/>
              </a:rPr>
              <a:t>Итоговые суммы</a:t>
            </a:r>
          </a:p>
        </p:txBody>
      </p:sp>
      <p:pic>
        <p:nvPicPr>
          <p:cNvPr id="16" name="Picture 15" descr="05i_generation_tot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00" y="3114000"/>
            <a:ext cx="4194000" cy="1764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00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125999"/>
            <a:ext cx="846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entury Gothic"/>
              </a:rPr>
              <a:t>Топливо: расчетная цепочка Коэфф → Распред → Топливо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558000"/>
            <a:ext cx="2700000" cy="32400"/>
          </a:xfrm>
          <a:prstGeom prst="rect">
            <a:avLst/>
          </a:prstGeom>
          <a:solidFill>
            <a:srgbClr val="00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" y="684000"/>
            <a:ext cx="2844000" cy="846000"/>
          </a:xfrm>
          <a:prstGeom prst="roundRect">
            <a:avLst>
              <a:gd name="adj" fmla="val 10000"/>
            </a:avLst>
          </a:prstGeom>
          <a:solidFill>
            <a:srgbClr val="E8F4F3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8000" y="918000"/>
            <a:ext cx="342000" cy="342000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809999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B8A"/>
                </a:solidFill>
                <a:latin typeface="Century Gothic"/>
              </a:rPr>
              <a:t>Коэфф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080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Параметры и коэффициенты расчета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98000" y="954000"/>
            <a:ext cx="360000" cy="251999"/>
          </a:xfrm>
          <a:prstGeom prst="rightArrow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50000" y="684000"/>
            <a:ext cx="2844000" cy="846000"/>
          </a:xfrm>
          <a:prstGeom prst="roundRect">
            <a:avLst>
              <a:gd name="adj" fmla="val 10000"/>
            </a:avLst>
          </a:prstGeom>
          <a:solidFill>
            <a:srgbClr val="E8F4F3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58000" y="918000"/>
            <a:ext cx="342000" cy="342000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0000" y="809999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B8A"/>
                </a:solidFill>
                <a:latin typeface="Century Gothic"/>
              </a:rPr>
              <a:t>Распред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0000" y="1080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Распределение выработки / топлива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68000" y="954000"/>
            <a:ext cx="360000" cy="251999"/>
          </a:xfrm>
          <a:prstGeom prst="rightArrow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0000" y="684000"/>
            <a:ext cx="2844000" cy="846000"/>
          </a:xfrm>
          <a:prstGeom prst="roundRect">
            <a:avLst>
              <a:gd name="adj" fmla="val 10000"/>
            </a:avLst>
          </a:prstGeom>
          <a:solidFill>
            <a:srgbClr val="E8F4F3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28000" y="918000"/>
            <a:ext cx="342000" cy="342000"/>
          </a:xfrm>
          <a:prstGeom prst="ellipse">
            <a:avLst/>
          </a:prstGeom>
          <a:solidFill>
            <a:srgbClr val="007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0000" y="809999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B8A"/>
                </a:solidFill>
                <a:latin typeface="Century Gothic"/>
              </a:rPr>
              <a:t>Топливо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0000" y="1080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entury Gothic"/>
              </a:rPr>
              <a:t>Итоговые топливные показатели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0400" y="1616400"/>
            <a:ext cx="2905200" cy="2923200"/>
          </a:xfrm>
          <a:prstGeom prst="roundRect">
            <a:avLst>
              <a:gd name="adj" fmla="val 6000"/>
            </a:avLst>
          </a:prstGeom>
          <a:solidFill>
            <a:srgbClr val="D0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4_fuel_calc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0" y="1638000"/>
            <a:ext cx="2862000" cy="288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2000" y="4536000"/>
            <a:ext cx="286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976"/>
                </a:solidFill>
                <a:latin typeface="Century Gothic"/>
              </a:rPr>
              <a:t>Интерфейс расчета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0400" y="1616400"/>
            <a:ext cx="2905200" cy="2923200"/>
          </a:xfrm>
          <a:prstGeom prst="roundRect">
            <a:avLst>
              <a:gd name="adj" fmla="val 6000"/>
            </a:avLst>
          </a:prstGeom>
          <a:solidFill>
            <a:srgbClr val="D0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4b_fuel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000" y="1638000"/>
            <a:ext cx="2862000" cy="288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32000" y="4536000"/>
            <a:ext cx="286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976"/>
                </a:solidFill>
                <a:latin typeface="Century Gothic"/>
              </a:rPr>
              <a:t>Топливный баланс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400" y="1616400"/>
            <a:ext cx="2905200" cy="2923200"/>
          </a:xfrm>
          <a:prstGeom prst="roundRect">
            <a:avLst>
              <a:gd name="adj" fmla="val 6000"/>
            </a:avLst>
          </a:prstGeom>
          <a:solidFill>
            <a:srgbClr val="D0E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14e_fuel_to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000" y="1638000"/>
            <a:ext cx="2862000" cy="288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102000" y="4536000"/>
            <a:ext cx="286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976"/>
                </a:solidFill>
                <a:latin typeface="Century Gothic"/>
              </a:rPr>
              <a:t>Итоги по топливу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006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1999" y="125999"/>
            <a:ext cx="846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entury Gothic"/>
              </a:rPr>
              <a:t>Электроемкость и экономика: своды, ВЭД, журналы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558000"/>
            <a:ext cx="2700000" cy="32400"/>
          </a:xfrm>
          <a:prstGeom prst="rect">
            <a:avLst/>
          </a:prstGeom>
          <a:solidFill>
            <a:srgbClr val="00B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630000"/>
            <a:ext cx="39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976"/>
                </a:solidFill>
                <a:latin typeface="Century Gothic"/>
              </a:rPr>
              <a:t>Электроемкость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630000"/>
            <a:ext cx="39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B8A"/>
                </a:solidFill>
                <a:latin typeface="Century Gothic"/>
              </a:rPr>
              <a:t>Экономика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000" y="792000"/>
            <a:ext cx="4356000" cy="12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_electrical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00" y="864000"/>
            <a:ext cx="4248000" cy="102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8000" y="1908000"/>
            <a:ext cx="4248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entury Gothic"/>
              </a:rPr>
              <a:t>Хаб электроемкости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000" y="2178000"/>
            <a:ext cx="4356000" cy="12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6_electrical_intensity_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00" y="2250000"/>
            <a:ext cx="4248000" cy="102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8000" y="3294000"/>
            <a:ext cx="4248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entury Gothic"/>
              </a:rPr>
              <a:t>Таблица по ФО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000" y="3564000"/>
            <a:ext cx="4356000" cy="12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6b_ei_ved_consump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3636000"/>
            <a:ext cx="4248000" cy="102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8000" y="4680000"/>
            <a:ext cx="4248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entury Gothic"/>
              </a:rPr>
              <a:t>ВЭД / потребление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4000" y="792000"/>
            <a:ext cx="4356000" cy="12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6c_economics_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000" y="864000"/>
            <a:ext cx="4248000" cy="102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98000" y="1908000"/>
            <a:ext cx="4248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entury Gothic"/>
              </a:rPr>
              <a:t>Хаб экономики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4000" y="2178000"/>
            <a:ext cx="4356000" cy="12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6d_economics_afc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000" y="2250000"/>
            <a:ext cx="4248000" cy="102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98000" y="3294000"/>
            <a:ext cx="4248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entury Gothic"/>
              </a:rPr>
              <a:t>АФКИ / инвестиции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44000" y="3564000"/>
            <a:ext cx="4356000" cy="12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16h_ved_change_lo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000" y="3636000"/>
            <a:ext cx="4248000" cy="102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98000" y="4680000"/>
            <a:ext cx="4248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entury Gothic"/>
              </a:rPr>
              <a:t>Журнал изменений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Century Gothic"/>
              </a:rPr>
              <a:t>Итоги Этапа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solidFill>
                  <a:srgbClr val="FFFFFF"/>
                </a:solidFill>
                <a:latin typeface="Century Gothic"/>
              </a:rPr>
              <a:t>Единая среда данных · рабочие модули · прослеживаемость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3168000"/>
            <a:ext cx="2340000" cy="43200"/>
          </a:xfrm>
          <a:prstGeom prst="rect">
            <a:avLst/>
          </a:prstGeom>
          <a:solidFill>
            <a:srgbClr val="AF9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СО">
  <a:themeElements>
    <a:clrScheme name="СО ЕЭС">
      <a:dk1>
        <a:srgbClr val="000000"/>
      </a:dk1>
      <a:lt1>
        <a:srgbClr val="FFFFFF"/>
      </a:lt1>
      <a:dk2>
        <a:srgbClr val="162764"/>
      </a:dk2>
      <a:lt2>
        <a:srgbClr val="FFFFFF"/>
      </a:lt2>
      <a:accent1>
        <a:srgbClr val="003B8A"/>
      </a:accent1>
      <a:accent2>
        <a:srgbClr val="837041"/>
      </a:accent2>
      <a:accent3>
        <a:srgbClr val="00577A"/>
      </a:accent3>
      <a:accent4>
        <a:srgbClr val="007976"/>
      </a:accent4>
      <a:accent5>
        <a:srgbClr val="E43E28"/>
      </a:accent5>
      <a:accent6>
        <a:srgbClr val="EECC00"/>
      </a:accent6>
      <a:hlink>
        <a:srgbClr val="AF985D"/>
      </a:hlink>
      <a:folHlink>
        <a:srgbClr val="837041"/>
      </a:folHlink>
    </a:clrScheme>
    <a:fontScheme name="СО ЕЭС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8E1D0"/>
        </a:solidFill>
        <a:ln w="9525">
          <a:solidFill>
            <a:srgbClr val="A88C5E"/>
          </a:solidFill>
          <a:prstDash val="soli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algn="ctr">
          <a:spcBef>
            <a:spcPts val="0"/>
          </a:spcBef>
          <a:buClr>
            <a:srgbClr val="2A4E9E"/>
          </a:buClr>
          <a:buSzPct val="100000"/>
          <a:defRPr sz="1100" dirty="0" smtClean="0">
            <a:latin typeface="Century Gothic" panose="020B0502020202020204" pitchFamily="34" charset="0"/>
          </a:defRPr>
        </a:defPPr>
      </a:lstStyle>
    </a:spDef>
    <a:lnDef>
      <a:spPr bwMode="auto">
        <a:noFill/>
        <a:ln w="12700" cap="flat" cmpd="sng" algn="ctr">
          <a:solidFill>
            <a:srgbClr val="A88C5E"/>
          </a:solidFill>
          <a:prstDash val="solid"/>
          <a:round/>
          <a:headEnd type="none" w="med" len="med"/>
          <a:tailEnd type="triangle" w="lg" len="sm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 algn="l">
          <a:spcBef>
            <a:spcPts val="0"/>
          </a:spcBef>
          <a:buClr>
            <a:srgbClr val="2A4E9E"/>
          </a:buClr>
          <a:buSzPct val="100000"/>
          <a:defRPr sz="1200" b="0" dirty="0" smtClean="0">
            <a:latin typeface="Century Gothic" panose="020B0502020202020204" pitchFamily="34" charset="0"/>
          </a:defRPr>
        </a:defPPr>
      </a:lstStyle>
    </a:tx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Тема СО" id="{42CD1692-C485-4F9E-A163-45518272FE42}" vid="{F5032C42-0E59-427A-97FF-C4878FA1441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18677</TotalTime>
  <Words>1794</Words>
  <Application>Microsoft Office PowerPoint</Application>
  <PresentationFormat>Экран (16:9)</PresentationFormat>
  <Paragraphs>286</Paragraphs>
  <Slides>25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Century Gothic</vt:lpstr>
      <vt:lpstr>Wingdings</vt:lpstr>
      <vt:lpstr>Тема СО</vt:lpstr>
      <vt:lpstr>Результаты Развития программного комплекса АРМ «Генеральная схема»  в 2026 году</vt:lpstr>
      <vt:lpstr>Верхнеуровневая структура АРМ</vt:lpstr>
      <vt:lpstr>Модуль Генерация (Интерфейс) – 1 Электростанции РФ</vt:lpstr>
      <vt:lpstr>Модуль Генерация (Интерфейс) – 2 Карточки электростанций и агрегатов</vt:lpstr>
      <vt:lpstr>Модуль Генерация (Интерфейс) – 3 перспективные АЭС, ГЭС, ГАЭС и ТЭС</vt:lpstr>
      <vt:lpstr>Модуль Генерация. Передача данных</vt:lpstr>
      <vt:lpstr>Модуль Балансы ЭЭ и ЭМ (интерфейс модуля) – 1</vt:lpstr>
      <vt:lpstr>Модуль Балансы ЭЭ и ЭМ (интерфейс модуля) – 2</vt:lpstr>
      <vt:lpstr>Модуль Балансы ЭЭ и ЭМ (возможности)</vt:lpstr>
      <vt:lpstr>Модуль Топливо (интерфейс) – 1</vt:lpstr>
      <vt:lpstr>Модуль Топливо (интерфейс) – 2</vt:lpstr>
      <vt:lpstr>Модуль Топливо(возможности)</vt:lpstr>
      <vt:lpstr>Модуль Экология (интерфейс)</vt:lpstr>
      <vt:lpstr>Модуль Экология (возможности)</vt:lpstr>
      <vt:lpstr>Модуль Нагрузки (интерфейс)</vt:lpstr>
      <vt:lpstr>Модуль Нагрузки (возможности)</vt:lpstr>
      <vt:lpstr>Модуль Спрос (интерфейс)</vt:lpstr>
      <vt:lpstr>Модуль Спрос (возможности)</vt:lpstr>
      <vt:lpstr>М. Долгосрочный прогноз потребления (интерфейс)</vt:lpstr>
      <vt:lpstr>М. Долгосрочный прогноз потребления (возможности)</vt:lpstr>
      <vt:lpstr>Модуль Характеристики территорий (интерфейс)</vt:lpstr>
      <vt:lpstr>Модуль Характеристики территорий (возможности)</vt:lpstr>
      <vt:lpstr>Оценка наполненности базы данных</vt:lpstr>
      <vt:lpstr>Результат развития АРМ в 2026 году</vt:lpstr>
      <vt:lpstr>Спасибо за внимание!</vt:lpstr>
    </vt:vector>
  </TitlesOfParts>
  <Company>Системный оператор Единой энергетической системы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АО "СО ЕЭС"</dc:title>
  <dc:subject>Системный оператор Единой энергетической системы</dc:subject>
  <dc:creator>Системный оператор Единой энергетической системы</dc:creator>
  <cp:lastModifiedBy>Алина Р. Салеева</cp:lastModifiedBy>
  <cp:revision>603</cp:revision>
  <dcterms:created xsi:type="dcterms:W3CDTF">2023-03-22T05:01:27Z</dcterms:created>
  <dcterms:modified xsi:type="dcterms:W3CDTF">2026-09-14T13:34:44Z</dcterms:modified>
</cp:coreProperties>
</file>